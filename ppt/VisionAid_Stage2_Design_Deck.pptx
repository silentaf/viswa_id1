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image-1002-2.png"/><Relationship Id="rId3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aman/Desktop/viswakarma/biothon/visiion aid/submission/ppt/assets/logo_vishwakarm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0040" y="6355080"/>
            <a:ext cx="1298448" cy="402336"/>
          </a:xfrm>
          <a:prstGeom prst="rect">
            <a:avLst/>
          </a:prstGeom>
        </p:spPr>
      </p:pic>
      <p:pic>
        <p:nvPicPr>
          <p:cNvPr id="3" name="Image 1" descr="/home/aman/Desktop/viswakarma/biothon/visiion aid/submission/ppt/assets/logo_makerbhava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82528" y="6336792"/>
            <a:ext cx="896112" cy="402336"/>
          </a:xfrm>
          <a:prstGeom prst="rect">
            <a:avLst/>
          </a:prstGeom>
        </p:spPr>
      </p:pic>
      <p:sp>
        <p:nvSpPr>
          <p:cNvPr id="4" name="Text 0"/>
          <p:cNvSpPr/>
          <p:nvPr>
            <p:ph idx="102" type="title" hasCustomPrompt="1"/>
          </p:nvPr>
        </p:nvSpPr>
        <p:spPr>
          <a:xfrm>
            <a:off x="411480" y="256032"/>
            <a:ext cx="9692640" cy="56692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3200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B7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3200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B7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aman/Desktop/viswakarma/biothon/visiion aid/submission/ppt/assets/logo_vishwakarm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320040"/>
            <a:ext cx="2103120" cy="649224"/>
          </a:xfrm>
          <a:prstGeom prst="rect">
            <a:avLst/>
          </a:prstGeom>
        </p:spPr>
      </p:pic>
      <p:pic>
        <p:nvPicPr>
          <p:cNvPr id="3" name="Image 1" descr="/home/aman/Desktop/viswakarma/biothon/visiion aid/submission/ppt/assets/logo_makerbhava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0" y="320040"/>
            <a:ext cx="1371600" cy="612648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548640" y="1325880"/>
            <a:ext cx="6766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5B6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VISHWAKARMA AWARDS 2026-27  ·  STAGE 2 DESIGN SPECIFICATION</a:t>
            </a:r>
            <a:endParaRPr lang="en-US" sz="1300" dirty="0"/>
          </a:p>
        </p:txBody>
      </p:sp>
      <p:sp>
        <p:nvSpPr>
          <p:cNvPr id="5" name="Text 1"/>
          <p:cNvSpPr txBox="1"/>
          <p:nvPr/>
        </p:nvSpPr>
        <p:spPr>
          <a:xfrm>
            <a:off x="548640" y="1737360"/>
            <a:ext cx="6766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Vishwakarma Application ID: [add before submission]</a:t>
            </a:r>
            <a:endParaRPr lang="en-US" sz="1600" dirty="0"/>
          </a:p>
        </p:txBody>
      </p:sp>
      <p:sp>
        <p:nvSpPr>
          <p:cNvPr id="6" name="Text 2"/>
          <p:cNvSpPr txBox="1"/>
          <p:nvPr/>
        </p:nvSpPr>
        <p:spPr>
          <a:xfrm>
            <a:off x="548640" y="2240280"/>
            <a:ext cx="6766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VisionAid</a:t>
            </a:r>
            <a:endParaRPr lang="en-US" sz="5400" dirty="0"/>
          </a:p>
        </p:txBody>
      </p:sp>
      <p:sp>
        <p:nvSpPr>
          <p:cNvPr id="7" name="Text 3"/>
          <p:cNvSpPr txBox="1"/>
          <p:nvPr/>
        </p:nvSpPr>
        <p:spPr>
          <a:xfrm>
            <a:off x="548640" y="315468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chest-worn, fully offline navigation aid that adds head-level-obstacle and drop-off warnings to the white cane - with an FPGA "safety island" whose alerts keep working even if the AI computer fails.</a:t>
            </a:r>
            <a:endParaRPr lang="en-US" sz="16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4206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ID: </a:t>
            </a:r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[add before submission]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Track: </a:t>
            </a:r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Assistive Solutions &amp; Inclusive Living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SVNIT: </a:t>
            </a:r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Jayant Kumawat (lead), Sneha Ahir, Aman Gupta - SVNIT Surat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Mentor institute: </a:t>
            </a:r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IIT Indore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files: </a:t>
            </a:r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github.com/silentaf/viswa_id1</a:t>
            </a:r>
            <a:endParaRPr lang="en-US" sz="1400" dirty="0"/>
          </a:p>
        </p:txBody>
      </p:sp>
      <p:pic>
        <p:nvPicPr>
          <p:cNvPr id="9" name="Image 2" descr="/home/aman/Desktop/viswakarma/biothon/visiion aid/submission/ppt/assets/pod_assembled_is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94873" y="1371600"/>
            <a:ext cx="3795534" cy="466344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7589520" y="6126480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 v1 of the chest pod (FreeCAD) - design stage, not yet fabricated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2" type="title" hasCustomPrompt="1"/>
          </p:nvPr>
        </p:nvSpPr>
        <p:spPr>
          <a:xfrm>
            <a:off x="411480" y="256032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Context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11480" y="1051560"/>
            <a:ext cx="2697480" cy="1143000"/>
          </a:xfrm>
          <a:prstGeom prst="roundRect">
            <a:avLst>
              <a:gd name="adj" fmla="val 4800"/>
            </a:avLst>
          </a:prstGeom>
          <a:solidFill>
            <a:srgbClr val="F3F5FA"/>
          </a:solidFill>
          <a:ln w="9525">
            <a:solidFill>
              <a:srgbClr val="DFE4EE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11480" y="1124712"/>
            <a:ext cx="2697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43.3 M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673352"/>
            <a:ext cx="2514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 blind worldwide (2020)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938528"/>
            <a:ext cx="2514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Cited: Bourne et al., Lancet GH 2021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291840" y="1051560"/>
            <a:ext cx="2697480" cy="1143000"/>
          </a:xfrm>
          <a:prstGeom prst="roundRect">
            <a:avLst>
              <a:gd name="adj" fmla="val 4800"/>
            </a:avLst>
          </a:prstGeom>
          <a:solidFill>
            <a:srgbClr val="F3F5FA"/>
          </a:solidFill>
          <a:ln w="9525">
            <a:solidFill>
              <a:srgbClr val="DFE4E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291840" y="1124712"/>
            <a:ext cx="2697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295 M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3383280" y="1673352"/>
            <a:ext cx="2514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moderate / severe vision impairment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3383280" y="1938528"/>
            <a:ext cx="2514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Cited: Bourne et al., Lancet GH 2021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6172200" y="1051560"/>
            <a:ext cx="2697480" cy="1143000"/>
          </a:xfrm>
          <a:prstGeom prst="roundRect">
            <a:avLst>
              <a:gd name="adj" fmla="val 4800"/>
            </a:avLst>
          </a:prstGeom>
          <a:solidFill>
            <a:srgbClr val="F3F5FA"/>
          </a:solidFill>
          <a:ln w="9525">
            <a:solidFill>
              <a:srgbClr val="DFE4E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172200" y="1124712"/>
            <a:ext cx="2697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1.99 %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6263640" y="1673352"/>
            <a:ext cx="2514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blindness among Indians aged 50+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263640" y="1938528"/>
            <a:ext cx="2514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Cited: NBVIS India 2015-19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9052560" y="1051560"/>
            <a:ext cx="2724912" cy="1143000"/>
          </a:xfrm>
          <a:prstGeom prst="roundRect">
            <a:avLst>
              <a:gd name="adj" fmla="val 4800"/>
            </a:avLst>
          </a:prstGeom>
          <a:solidFill>
            <a:srgbClr val="F3F5FA"/>
          </a:solidFill>
          <a:ln w="9525">
            <a:solidFill>
              <a:srgbClr val="DFE4EE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052560" y="1124712"/>
            <a:ext cx="27249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₹3,500</a:t>
            </a:r>
            <a:endParaRPr lang="en-US" sz="3000" dirty="0"/>
          </a:p>
        </p:txBody>
      </p:sp>
      <p:sp>
        <p:nvSpPr>
          <p:cNvPr id="17" name="Text 15"/>
          <p:cNvSpPr txBox="1"/>
          <p:nvPr/>
        </p:nvSpPr>
        <p:spPr>
          <a:xfrm>
            <a:off x="9144000" y="1673352"/>
            <a:ext cx="25420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SmartCane - closest Indian aid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9144000" y="1938528"/>
            <a:ext cx="25420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Cited: IIT Delhi / Assistech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11480" y="2377440"/>
            <a:ext cx="5577840" cy="3246120"/>
          </a:xfrm>
          <a:prstGeom prst="roundRect">
            <a:avLst>
              <a:gd name="adj" fmla="val 1690"/>
            </a:avLst>
          </a:prstGeom>
          <a:solidFill>
            <a:srgbClr val="F3F5FA"/>
          </a:solidFill>
          <a:ln w="9525">
            <a:solidFill>
              <a:srgbClr val="DFE4EE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8640" y="2468880"/>
            <a:ext cx="530352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white cane only senses what it touches at ground level, about one cane-length ahead.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Head-level obstacles (branches, poles, signs, truck bodies) and drop-offs (open drains, kerbs, steps) are what it misses. In a survey of 307 blind / legally blind travellers, 13 % hit their head at least once a month and 7 % fell at least once a month; 23 % of head-level accidents needed medical care, and cane vs guide-dog users did not differ (cited: Manduchi &amp; Kurniawan, 2011; US-based sample).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a label or sign still needs a sighted helper or a hand-held phone.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4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beneficiary: </a:t>
            </a:r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blind and low-vision cane users who walk independently on Indian streets and campuses.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6172200" y="2377440"/>
            <a:ext cx="5577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search disclosure - what exists</a:t>
            </a:r>
            <a:endParaRPr lang="en-US" sz="15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72200" y="2761488"/>
          <a:ext cx="5605272" cy="914400"/>
        </p:xfrm>
        <a:graphic>
          <a:graphicData uri="http://schemas.openxmlformats.org/drawingml/2006/table">
            <a:tbl>
              <a:tblPr/>
              <a:tblGrid>
                <a:gridCol w="1691640"/>
                <a:gridCol w="1234440"/>
                <a:gridCol w="267919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Product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32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Price (cited)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32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325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SmartCane (IIT Delhi)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 ₹3,500 (2016)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Above-knee only; no drop-offs, no naming / reading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OrCam MyEye 3 Pro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 US$4,250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Reading aid, not mobility; expensive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Envision Glasses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US$1,899-3,499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Reading / description; expensive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Phone apps (Lookout, MANI)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Need a hand + pointed phone; no continuous warning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</a:tr>
            </a:tbl>
          </a:graphicData>
        </a:graphic>
      </p:graphicFrame>
      <p:sp>
        <p:nvSpPr>
          <p:cNvPr id="23" name="Shape 20"/>
          <p:cNvSpPr/>
          <p:nvPr/>
        </p:nvSpPr>
        <p:spPr>
          <a:xfrm>
            <a:off x="411480" y="5806440"/>
            <a:ext cx="11365992" cy="420624"/>
          </a:xfrm>
          <a:prstGeom prst="roundRect">
            <a:avLst>
              <a:gd name="adj" fmla="val 10870"/>
            </a:avLst>
          </a:prstGeom>
          <a:solidFill>
            <a:srgbClr val="EEF6E4"/>
          </a:solidFill>
          <a:ln w="9525">
            <a:solidFill>
              <a:srgbClr val="C9E3A8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548640" y="5806440"/>
            <a:ext cx="11109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6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innovation: </a:t>
            </a:r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head-level + drop-off warnings for the cane user, with an alert path bounded in hardware (FPGA) and an on-device AI layer that names hazards and reads text - fully offline.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3200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B7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2" type="title" hasCustomPrompt="1"/>
          </p:nvPr>
        </p:nvSpPr>
        <p:spPr>
          <a:xfrm>
            <a:off x="411480" y="256032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Journey - Before (cane only)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11480" y="1188720"/>
            <a:ext cx="2057400" cy="566928"/>
          </a:xfrm>
          <a:prstGeom prst="roundRect">
            <a:avLst>
              <a:gd name="adj" fmla="val 9677"/>
            </a:avLst>
          </a:prstGeom>
          <a:solidFill>
            <a:srgbClr val="25325F"/>
          </a:solidFill>
          <a:ln w="9525">
            <a:solidFill>
              <a:srgbClr val="25325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188720"/>
            <a:ext cx="1965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Walks with cane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411480" y="1801368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cane sweeps the ground ~1 m ahead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487168" y="1472184"/>
            <a:ext cx="210312" cy="914"/>
          </a:xfrm>
          <a:prstGeom prst="line">
            <a:avLst/>
          </a:prstGeom>
          <a:noFill/>
          <a:ln w="22225">
            <a:solidFill>
              <a:srgbClr val="5B6BA8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2715768" y="1188720"/>
            <a:ext cx="2057400" cy="566928"/>
          </a:xfrm>
          <a:prstGeom prst="roundRect">
            <a:avLst>
              <a:gd name="adj" fmla="val 9677"/>
            </a:avLst>
          </a:prstGeom>
          <a:solidFill>
            <a:srgbClr val="25325F"/>
          </a:solidFill>
          <a:ln w="9525">
            <a:solidFill>
              <a:srgbClr val="25325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761488" y="1188720"/>
            <a:ext cx="1965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Head-level obstacle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2715768" y="1801368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touched by the cane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791456" y="1472184"/>
            <a:ext cx="210312" cy="914"/>
          </a:xfrm>
          <a:prstGeom prst="line">
            <a:avLst/>
          </a:prstGeom>
          <a:noFill/>
          <a:ln w="22225">
            <a:solidFill>
              <a:srgbClr val="5B6BA8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5020056" y="1188720"/>
            <a:ext cx="2057400" cy="566928"/>
          </a:xfrm>
          <a:prstGeom prst="roundRect">
            <a:avLst>
              <a:gd name="adj" fmla="val 9677"/>
            </a:avLst>
          </a:prstGeom>
          <a:solidFill>
            <a:srgbClr val="B3261E"/>
          </a:solidFill>
          <a:ln w="9525">
            <a:solidFill>
              <a:srgbClr val="B3261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065776" y="1188720"/>
            <a:ext cx="1965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Collision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5020056" y="1801368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 / face injury risk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7095744" y="1472184"/>
            <a:ext cx="210312" cy="914"/>
          </a:xfrm>
          <a:prstGeom prst="line">
            <a:avLst/>
          </a:prstGeom>
          <a:noFill/>
          <a:ln w="22225">
            <a:solidFill>
              <a:srgbClr val="5B6BA8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7324344" y="1188720"/>
            <a:ext cx="2057400" cy="566928"/>
          </a:xfrm>
          <a:prstGeom prst="roundRect">
            <a:avLst>
              <a:gd name="adj" fmla="val 9677"/>
            </a:avLst>
          </a:prstGeom>
          <a:solidFill>
            <a:srgbClr val="25325F"/>
          </a:solidFill>
          <a:ln w="9525">
            <a:solidFill>
              <a:srgbClr val="25325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370064" y="1188720"/>
            <a:ext cx="1965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drain or step down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7324344" y="1801368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 only when the cane drops in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9400032" y="1472184"/>
            <a:ext cx="210312" cy="914"/>
          </a:xfrm>
          <a:prstGeom prst="line">
            <a:avLst/>
          </a:prstGeom>
          <a:noFill/>
          <a:ln w="22225">
            <a:solidFill>
              <a:srgbClr val="5B6BA8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9628632" y="1188720"/>
            <a:ext cx="2057400" cy="566928"/>
          </a:xfrm>
          <a:prstGeom prst="roundRect">
            <a:avLst>
              <a:gd name="adj" fmla="val 9677"/>
            </a:avLst>
          </a:prstGeom>
          <a:solidFill>
            <a:srgbClr val="25325F"/>
          </a:solidFill>
          <a:ln w="9525">
            <a:solidFill>
              <a:srgbClr val="25325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674352" y="1188720"/>
            <a:ext cx="1965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to read a label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9628632" y="1801368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asks a stranger / holds a phone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11480" y="2606040"/>
            <a:ext cx="5577840" cy="3017520"/>
          </a:xfrm>
          <a:prstGeom prst="roundRect">
            <a:avLst>
              <a:gd name="adj" fmla="val 1818"/>
            </a:avLst>
          </a:prstGeom>
          <a:solidFill>
            <a:srgbClr val="F3F5FA"/>
          </a:solidFill>
          <a:ln w="9525">
            <a:solidFill>
              <a:srgbClr val="DFE4EE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48640" y="2697480"/>
            <a:ext cx="530352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pain points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Warning comes from contact: the cane reports an obstacle only when it touches it.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above the cane: overhanging objects are invisible to it.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Drop-offs are found by falling-in of the cane tip - the user is already at the edge.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and identifying objects depend on another person.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6172200" y="2606040"/>
            <a:ext cx="5605272" cy="3017520"/>
          </a:xfrm>
          <a:prstGeom prst="roundRect">
            <a:avLst>
              <a:gd name="adj" fmla="val 1818"/>
            </a:avLst>
          </a:prstGeom>
          <a:solidFill>
            <a:srgbClr val="EEF6E4"/>
          </a:solidFill>
          <a:ln w="9525">
            <a:solidFill>
              <a:srgbClr val="C9E3A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309360" y="2697480"/>
            <a:ext cx="5330952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Quantified inefficiency (calculated, not measured)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5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Warning time for ground obstacles: </a:t>
            </a:r>
            <a:pPr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 m cane reach ÷ 1.2 m/s walking speed ≈ 0.8 s.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5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Warning time for head-level obstacles: </a:t>
            </a:r>
            <a:pPr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s - the cane never touches them.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5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Warning before a drop-off: </a:t>
            </a:r>
            <a:pPr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as far as the cane tip; no advance cue.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5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Text: </a:t>
            </a:r>
            <a:pPr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label / sign needs a helper; no independent reading.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411480" y="5806440"/>
            <a:ext cx="11365992" cy="420624"/>
          </a:xfrm>
          <a:prstGeom prst="roundRect">
            <a:avLst>
              <a:gd name="adj" fmla="val 10870"/>
            </a:avLst>
          </a:prstGeom>
          <a:solidFill>
            <a:srgbClr val="EEF6E4"/>
          </a:solidFill>
          <a:ln w="9525">
            <a:solidFill>
              <a:srgbClr val="C9E3A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48640" y="5806440"/>
            <a:ext cx="11109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6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Assumptions: </a:t>
            </a:r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 m/s typical adult walking speed and ~1 m cane reach are design assumptions; Stage 3 user interviews and trials will replace them with measured values.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3200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B7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2" type="title" hasCustomPrompt="1"/>
          </p:nvPr>
        </p:nvSpPr>
        <p:spPr>
          <a:xfrm>
            <a:off x="411480" y="256032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Journey - After (cane + VisionAid)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11480" y="1188720"/>
            <a:ext cx="2057400" cy="566928"/>
          </a:xfrm>
          <a:prstGeom prst="roundRect">
            <a:avLst>
              <a:gd name="adj" fmla="val 9677"/>
            </a:avLst>
          </a:prstGeom>
          <a:solidFill>
            <a:srgbClr val="25325F"/>
          </a:solidFill>
          <a:ln w="9525">
            <a:solidFill>
              <a:srgbClr val="25325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188720"/>
            <a:ext cx="1965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Walks with cane + pod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411480" y="1801368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 scans 0.3-3 m, waist to head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487168" y="1472184"/>
            <a:ext cx="210312" cy="914"/>
          </a:xfrm>
          <a:prstGeom prst="line">
            <a:avLst/>
          </a:prstGeom>
          <a:noFill/>
          <a:ln w="22225">
            <a:solidFill>
              <a:srgbClr val="5B6BA8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2715768" y="1188720"/>
            <a:ext cx="2057400" cy="566928"/>
          </a:xfrm>
          <a:prstGeom prst="roundRect">
            <a:avLst>
              <a:gd name="adj" fmla="val 9677"/>
            </a:avLst>
          </a:prstGeom>
          <a:solidFill>
            <a:srgbClr val="25325F"/>
          </a:solidFill>
          <a:ln w="9525">
            <a:solidFill>
              <a:srgbClr val="25325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761488" y="1188720"/>
            <a:ext cx="1965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Obstacle in 3 m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2715768" y="1801368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FPGA classifies distance zone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791456" y="1472184"/>
            <a:ext cx="210312" cy="914"/>
          </a:xfrm>
          <a:prstGeom prst="line">
            <a:avLst/>
          </a:prstGeom>
          <a:noFill/>
          <a:ln w="22225">
            <a:solidFill>
              <a:srgbClr val="5B6BA8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5020056" y="1188720"/>
            <a:ext cx="2057400" cy="566928"/>
          </a:xfrm>
          <a:prstGeom prst="roundRect">
            <a:avLst>
              <a:gd name="adj" fmla="val 9677"/>
            </a:avLst>
          </a:prstGeom>
          <a:solidFill>
            <a:srgbClr val="3F6E12"/>
          </a:solidFill>
          <a:ln w="9525">
            <a:solidFill>
              <a:srgbClr val="3F6E1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065776" y="1188720"/>
            <a:ext cx="1965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 / R vibration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5020056" y="1801368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pulse rate = distance; side = direction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7095744" y="1472184"/>
            <a:ext cx="210312" cy="914"/>
          </a:xfrm>
          <a:prstGeom prst="line">
            <a:avLst/>
          </a:prstGeom>
          <a:noFill/>
          <a:ln w="22225">
            <a:solidFill>
              <a:srgbClr val="5B6BA8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7324344" y="1188720"/>
            <a:ext cx="2057400" cy="566928"/>
          </a:xfrm>
          <a:prstGeom prst="roundRect">
            <a:avLst>
              <a:gd name="adj" fmla="val 9677"/>
            </a:avLst>
          </a:prstGeom>
          <a:solidFill>
            <a:srgbClr val="25325F"/>
          </a:solidFill>
          <a:ln w="9525">
            <a:solidFill>
              <a:srgbClr val="25325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370064" y="1188720"/>
            <a:ext cx="1965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Floor drops ahead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7324344" y="1801368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LiDAR: drop-off alarm + buzzer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9400032" y="1472184"/>
            <a:ext cx="210312" cy="914"/>
          </a:xfrm>
          <a:prstGeom prst="line">
            <a:avLst/>
          </a:prstGeom>
          <a:noFill/>
          <a:ln w="22225">
            <a:solidFill>
              <a:srgbClr val="5B6BA8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9628632" y="1188720"/>
            <a:ext cx="2057400" cy="566928"/>
          </a:xfrm>
          <a:prstGeom prst="roundRect">
            <a:avLst>
              <a:gd name="adj" fmla="val 9677"/>
            </a:avLst>
          </a:prstGeom>
          <a:solidFill>
            <a:srgbClr val="25325F"/>
          </a:solidFill>
          <a:ln w="9525">
            <a:solidFill>
              <a:srgbClr val="25325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674352" y="1188720"/>
            <a:ext cx="1965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Presses READ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9628632" y="1801368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 reads text aloud (offline)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11480" y="2606040"/>
            <a:ext cx="5577840" cy="3017520"/>
          </a:xfrm>
          <a:prstGeom prst="roundRect">
            <a:avLst>
              <a:gd name="adj" fmla="val 1818"/>
            </a:avLst>
          </a:prstGeom>
          <a:solidFill>
            <a:srgbClr val="F3F5FA"/>
          </a:solidFill>
          <a:ln w="9525">
            <a:solidFill>
              <a:srgbClr val="DFE4EE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48640" y="2697480"/>
            <a:ext cx="530352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 user benefits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Warned before contact - including head-level obstacles the cane cannot reach.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 / right motors on the chest straps say which side the hazard is on.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Drop-off warning ahead of the edge, not at it.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Hands stay free; speech through a bone-conduction headset keeps the ears open to traffic.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Alerts never depend on the AI computer (FPGA safety island).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6172200" y="2606040"/>
            <a:ext cx="5605272" cy="3017520"/>
          </a:xfrm>
          <a:prstGeom prst="roundRect">
            <a:avLst>
              <a:gd name="adj" fmla="val 1818"/>
            </a:avLst>
          </a:prstGeom>
          <a:solidFill>
            <a:srgbClr val="EEF6E4"/>
          </a:solidFill>
          <a:ln w="9525">
            <a:solidFill>
              <a:srgbClr val="C9E3A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309360" y="2697480"/>
            <a:ext cx="5330952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Quantified efficiency (labels say where each number comes from)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5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Warning time, 3 m range at 1.2 m/s: </a:t>
            </a:r>
            <a:pPr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2.5 s (calculated, target range)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5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Echo edge → motor on: </a:t>
            </a:r>
            <a:pPr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214 ns over 4 events (simulated; target ≤ 1 ms)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5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 per direction: </a:t>
            </a:r>
            <a:pPr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 ms (by design, simulated)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5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Drop-off warned: </a:t>
            </a:r>
            <a:pPr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1.86 m before the step (calculated from CAD angles); alert 22 ms after (simulated)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5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 → speech audio ready: </a:t>
            </a:r>
            <a:pPr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211 ms (measured on laptop, not Pi 5; excludes capture + playback)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411480" y="5806440"/>
            <a:ext cx="11365992" cy="420624"/>
          </a:xfrm>
          <a:prstGeom prst="roundRect">
            <a:avLst>
              <a:gd name="adj" fmla="val 10870"/>
            </a:avLst>
          </a:prstGeom>
          <a:solidFill>
            <a:srgbClr val="EEF6E4"/>
          </a:solidFill>
          <a:ln w="9525">
            <a:solidFill>
              <a:srgbClr val="C9E3A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48640" y="5806440"/>
            <a:ext cx="11109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6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Honesty rule: </a:t>
            </a:r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hardware built yet - simulated = our Verilog testbench; measured = our Pi software run on the dev laptop; Pi 5 and field numbers come in Stage 3.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3200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B7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2" type="title" hasCustomPrompt="1"/>
          </p:nvPr>
        </p:nvSpPr>
        <p:spPr>
          <a:xfrm>
            <a:off x="411480" y="256032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Architecture - Block Diagram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11480" y="1143000"/>
            <a:ext cx="2377440" cy="731520"/>
          </a:xfrm>
          <a:prstGeom prst="roundRect">
            <a:avLst>
              <a:gd name="adj" fmla="val 7500"/>
            </a:avLst>
          </a:prstGeom>
          <a:solidFill>
            <a:srgbClr val="5B6BA8"/>
          </a:solidFill>
          <a:ln w="9525">
            <a:solidFill>
              <a:srgbClr val="5B6BA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14300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× RCWL-1601 ultrasonic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(left, right, head-level)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11480" y="2057400"/>
            <a:ext cx="2377440" cy="731520"/>
          </a:xfrm>
          <a:prstGeom prst="roundRect">
            <a:avLst>
              <a:gd name="adj" fmla="val 7500"/>
            </a:avLst>
          </a:prstGeom>
          <a:solidFill>
            <a:srgbClr val="5B6BA8"/>
          </a:solidFill>
          <a:ln w="9525">
            <a:solidFill>
              <a:srgbClr val="5B6BA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205740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TF-Luna LiDAR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(floor, −35°)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2971800"/>
            <a:ext cx="2377440" cy="731520"/>
          </a:xfrm>
          <a:prstGeom prst="roundRect">
            <a:avLst>
              <a:gd name="adj" fmla="val 7500"/>
            </a:avLst>
          </a:prstGeom>
          <a:solidFill>
            <a:srgbClr val="5B6BA8"/>
          </a:solidFill>
          <a:ln w="9525">
            <a:solidFill>
              <a:srgbClr val="5B6BA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7200" y="297180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buttons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(READ / MODE / QUIET)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657600" y="1143000"/>
            <a:ext cx="3108960" cy="2560320"/>
          </a:xfrm>
          <a:prstGeom prst="roundRect">
            <a:avLst>
              <a:gd name="adj" fmla="val 2143"/>
            </a:avLst>
          </a:prstGeom>
          <a:solidFill>
            <a:srgbClr val="25325F"/>
          </a:solidFill>
          <a:ln w="9525">
            <a:solidFill>
              <a:srgbClr val="25325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703320" y="1143000"/>
            <a:ext cx="30175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FPGA SAFETY ISLAND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Sipeed Tang Nano 9K (27 MHz)</a:t>
            </a:r>
            <a:endParaRPr lang="en-US" sz="1200" dirty="0"/>
          </a:p>
          <a:p>
            <a:pPr algn="ctr" indent="0" marL="0">
              <a:buNone/>
            </a:pP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echo timing · distance zones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LiDAR drop-off · PWM patterns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watchdog · fault detection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2807208" y="1508760"/>
            <a:ext cx="832104" cy="914"/>
          </a:xfrm>
          <a:prstGeom prst="line">
            <a:avLst/>
          </a:prstGeom>
          <a:noFill/>
          <a:ln w="22225">
            <a:solidFill>
              <a:srgbClr val="5B6BA8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2807208" y="2423160"/>
            <a:ext cx="832104" cy="914"/>
          </a:xfrm>
          <a:prstGeom prst="line">
            <a:avLst/>
          </a:prstGeom>
          <a:noFill/>
          <a:ln w="22225">
            <a:solidFill>
              <a:srgbClr val="5B6BA8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2807208" y="3337560"/>
            <a:ext cx="832104" cy="914"/>
          </a:xfrm>
          <a:prstGeom prst="line">
            <a:avLst/>
          </a:prstGeom>
          <a:noFill/>
          <a:ln w="22225">
            <a:solidFill>
              <a:srgbClr val="5B6BA8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7635240" y="1325880"/>
            <a:ext cx="2377440" cy="777240"/>
          </a:xfrm>
          <a:prstGeom prst="roundRect">
            <a:avLst>
              <a:gd name="adj" fmla="val 7059"/>
            </a:avLst>
          </a:prstGeom>
          <a:solidFill>
            <a:srgbClr val="3F6E12"/>
          </a:solidFill>
          <a:ln w="9525">
            <a:solidFill>
              <a:srgbClr val="3F6E1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680960" y="132588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 / right coin motors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(chest straps, wired)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784848" y="1709928"/>
            <a:ext cx="832104" cy="914"/>
          </a:xfrm>
          <a:prstGeom prst="line">
            <a:avLst/>
          </a:prstGeom>
          <a:noFill/>
          <a:ln w="22225">
            <a:solidFill>
              <a:srgbClr val="5B6BA8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7635240" y="2514600"/>
            <a:ext cx="2377440" cy="777240"/>
          </a:xfrm>
          <a:prstGeom prst="roundRect">
            <a:avLst>
              <a:gd name="adj" fmla="val 7059"/>
            </a:avLst>
          </a:prstGeom>
          <a:solidFill>
            <a:srgbClr val="3F6E12"/>
          </a:solidFill>
          <a:ln w="9525">
            <a:solidFill>
              <a:srgbClr val="3F6E1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680960" y="251460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Buzzer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("check device", drop-off)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784848" y="2898648"/>
            <a:ext cx="832104" cy="914"/>
          </a:xfrm>
          <a:prstGeom prst="line">
            <a:avLst/>
          </a:prstGeom>
          <a:noFill/>
          <a:ln w="22225">
            <a:solidFill>
              <a:srgbClr val="5B6BA8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3657600" y="4343400"/>
            <a:ext cx="3108960" cy="1188720"/>
          </a:xfrm>
          <a:prstGeom prst="roundRect">
            <a:avLst>
              <a:gd name="adj" fmla="val 4615"/>
            </a:avLst>
          </a:prstGeom>
          <a:solidFill>
            <a:srgbClr val="36456F"/>
          </a:solidFill>
          <a:ln w="9525">
            <a:solidFill>
              <a:srgbClr val="36456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703320" y="4343400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PATH - Raspberry Pi 5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YOLO-nano object names · OCR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text-to-speech (EN / HI)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11480" y="4526280"/>
            <a:ext cx="2377440" cy="822960"/>
          </a:xfrm>
          <a:prstGeom prst="roundRect">
            <a:avLst>
              <a:gd name="adj" fmla="val 6667"/>
            </a:avLst>
          </a:prstGeom>
          <a:solidFill>
            <a:srgbClr val="5B6BA8"/>
          </a:solidFill>
          <a:ln w="9525">
            <a:solidFill>
              <a:srgbClr val="5B6BA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57200" y="452628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Camera Module 3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(autofocus)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2807208" y="4937760"/>
            <a:ext cx="832104" cy="914"/>
          </a:xfrm>
          <a:prstGeom prst="line">
            <a:avLst/>
          </a:prstGeom>
          <a:noFill/>
          <a:ln w="22225">
            <a:solidFill>
              <a:srgbClr val="5B6BA8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7635240" y="4526280"/>
            <a:ext cx="2377440" cy="822960"/>
          </a:xfrm>
          <a:prstGeom prst="roundRect">
            <a:avLst>
              <a:gd name="adj" fmla="val 6667"/>
            </a:avLst>
          </a:prstGeom>
          <a:solidFill>
            <a:srgbClr val="3F6E12"/>
          </a:solidFill>
          <a:ln w="9525">
            <a:solidFill>
              <a:srgbClr val="3F6E12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680960" y="452628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Bluetooth bone-conduction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headset (speech)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784848" y="4937760"/>
            <a:ext cx="832104" cy="914"/>
          </a:xfrm>
          <a:prstGeom prst="line">
            <a:avLst/>
          </a:prstGeom>
          <a:noFill/>
          <a:ln w="22225">
            <a:solidFill>
              <a:srgbClr val="5B6BA8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4983480" y="3721608"/>
            <a:ext cx="914" cy="603504"/>
          </a:xfrm>
          <a:prstGeom prst="line">
            <a:avLst/>
          </a:prstGeom>
          <a:noFill/>
          <a:ln w="22225">
            <a:solidFill>
              <a:srgbClr val="5B6BA8"/>
            </a:solidFill>
            <a:prstDash val="solid"/>
            <a:tailEnd type="triangle"/>
          </a:ln>
        </p:spPr>
      </p:sp>
      <p:sp>
        <p:nvSpPr>
          <p:cNvPr id="29" name="Shape 27"/>
          <p:cNvSpPr/>
          <p:nvPr/>
        </p:nvSpPr>
        <p:spPr>
          <a:xfrm flipV="1">
            <a:off x="5440680" y="3721608"/>
            <a:ext cx="914" cy="603504"/>
          </a:xfrm>
          <a:prstGeom prst="line">
            <a:avLst/>
          </a:prstGeom>
          <a:noFill/>
          <a:ln w="22225">
            <a:solidFill>
              <a:srgbClr val="5B6BA8"/>
            </a:solidFill>
            <a:prstDash val="solid"/>
            <a:tailEnd type="triangle"/>
          </a:ln>
        </p:spPr>
      </p:sp>
      <p:sp>
        <p:nvSpPr>
          <p:cNvPr id="30" name="Text 28"/>
          <p:cNvSpPr txBox="1"/>
          <p:nvPr/>
        </p:nvSpPr>
        <p:spPr>
          <a:xfrm>
            <a:off x="5532120" y="376732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UART 115200 status / config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heartbeat + fault line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10241280" y="1143000"/>
            <a:ext cx="1536192" cy="4389120"/>
          </a:xfrm>
          <a:prstGeom prst="roundRect">
            <a:avLst>
              <a:gd name="adj" fmla="val 3571"/>
            </a:avLst>
          </a:prstGeom>
          <a:solidFill>
            <a:srgbClr val="E8ECF4"/>
          </a:solidFill>
          <a:ln w="9525">
            <a:solidFill>
              <a:srgbClr val="E8ECF4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0287000" y="1143000"/>
            <a:ext cx="1444752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endParaRPr lang="en-US" sz="1100" dirty="0"/>
          </a:p>
          <a:p>
            <a:pPr algn="ctr" indent="0" marL="0">
              <a:buNone/>
            </a:pP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BIS-certified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USB-C power bank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Pi 5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500 mA PTC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carrier 5 V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AMS1117 3.3 V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411480" y="5760720"/>
            <a:ext cx="11365992" cy="420624"/>
          </a:xfrm>
          <a:prstGeom prst="roundRect">
            <a:avLst>
              <a:gd name="adj" fmla="val 10870"/>
            </a:avLst>
          </a:prstGeom>
          <a:solidFill>
            <a:srgbClr val="EEF6E4"/>
          </a:solidFill>
          <a:ln w="9525">
            <a:solidFill>
              <a:srgbClr val="C9E3A8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548640" y="5760720"/>
            <a:ext cx="11109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6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rule: </a:t>
            </a:r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FPGA drives the motors itself; the Pi can only add information and tune thresholds within clamped limits (it cannot switch alerts off). If the Pi's heartbeat stops, alerts continue and an "AI offline" chirp sounds.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3200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B7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2" type="title" hasCustomPrompt="1"/>
          </p:nvPr>
        </p:nvSpPr>
        <p:spPr>
          <a:xfrm>
            <a:off x="411480" y="256032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Specifications &amp; Hardware Selection</a:t>
            </a:r>
            <a:endParaRPr lang="en-US" sz="28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051560"/>
          <a:ext cx="11365992" cy="914400"/>
        </p:xfrm>
        <a:graphic>
          <a:graphicData uri="http://schemas.openxmlformats.org/drawingml/2006/table">
            <a:tbl>
              <a:tblPr/>
              <a:tblGrid>
                <a:gridCol w="2514600"/>
                <a:gridCol w="1600200"/>
                <a:gridCol w="3291840"/>
                <a:gridCol w="3959352"/>
              </a:tblGrid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Parameter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32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Target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32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Evidence so far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32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Selected hardware / protocol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325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Obstacle range (waist-head)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0.3-3.0 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sensor class; housings +25° / ±15° (CAD)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× RCWL-1601, 3.3 V, sequenced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Alert latency (echo → motor)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≤ 1 ms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Simulated: max 214 ns (4 events)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Tang Nano 9K GW1NR-9 FPGA, 27 MHz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Update period / direction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≤ 100 ms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 ms by design (simulated)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× 33 ms slots (no crosstalk)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Distance resolution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≤ ±5 cm to 2 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Timer logic simulated: 1500 → 1499 mm (sensor error: Stage 3)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µs echo timer (0.17 mm/count)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Drop-off warning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≥ 1.0 m ahead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Calculated 1.86 m (−35° from 1.3 m); alert 22 ms (sim.)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Benewake TF-Luna + IMU tilt correction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Object name / OCR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≤ 1 s / ≤ 3 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Laptop: detect 28 ms, e2e 211 ms, OCR 1.2-1.4 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Raspberry Pi 5 4 GB + Camera Module 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 fails → alert path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unaffected, cue ≤ 1 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Simulated: AI-offline at 666 ms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FPGA heartbeat watchdog (GPIO17)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Runtime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≥ 4 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Calc. (cited Pi 5 W): 4.3 h if AI busy ~50 % (assumed); 3.1 h if always 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10,000 mAh BIS power bank, USB-C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Pod mass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≤ 250 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Estimate: likely over (plastic ≈156 g solid)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PETG, 2.5 mm wall; lightening in v2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411480" y="5440680"/>
            <a:ext cx="11365992" cy="420624"/>
          </a:xfrm>
          <a:prstGeom prst="roundRect">
            <a:avLst>
              <a:gd name="adj" fmla="val 10870"/>
            </a:avLst>
          </a:prstGeom>
          <a:solidFill>
            <a:srgbClr val="EEF6E4"/>
          </a:solidFill>
          <a:ln w="9525">
            <a:solidFill>
              <a:srgbClr val="C9E3A8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48640" y="5440680"/>
            <a:ext cx="11109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6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rationale: </a:t>
            </a:r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 5 (4 × Cortex-A76, 2.4 GHz) instead of the Stage 1 PYNQ-Z2 (2 × Cortex-A9, 650 MHz) for detection + OCR; FPGA kept for the parallel, cycle-exact, fault-isolated alert path; wired haptics so no radio sits in the safety path.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3200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B7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2" type="title" hasCustomPrompt="1"/>
          </p:nvPr>
        </p:nvSpPr>
        <p:spPr>
          <a:xfrm>
            <a:off x="411480" y="256032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 Design &amp; Mechanical Specs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9692640" y="347472"/>
            <a:ext cx="1600200" cy="274320"/>
          </a:xfrm>
          <a:prstGeom prst="roundRect">
            <a:avLst>
              <a:gd name="adj" fmla="val 26667"/>
            </a:avLst>
          </a:prstGeom>
          <a:solidFill>
            <a:srgbClr val="EEF6E4"/>
          </a:solidFill>
          <a:ln w="9525">
            <a:solidFill>
              <a:srgbClr val="C9E3A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F6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FREECAD · PARAMETRIC</a:t>
            </a:r>
            <a:endParaRPr lang="en-US" sz="900" dirty="0"/>
          </a:p>
        </p:txBody>
      </p:sp>
      <p:pic>
        <p:nvPicPr>
          <p:cNvPr id="4" name="Image 0" descr="/home/aman/Desktop/viswakarma/biothon/visiion aid/submission/ppt/assets/pod_exploded_is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031346"/>
            <a:ext cx="4754880" cy="406378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11480" y="5120640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Exploded: shell | Pi 5 | 20 mm standoffs | carrier PCB + Tang Nano | lid + housings | sensors</a:t>
            </a:r>
            <a:endParaRPr lang="en-US" sz="1000" dirty="0"/>
          </a:p>
        </p:txBody>
      </p:sp>
      <p:pic>
        <p:nvPicPr>
          <p:cNvPr id="6" name="Image 1" descr="/home/aman/Desktop/viswakarma/biothon/visiion aid/submission/ppt/assets/pod_back_moun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20409" y="1005840"/>
            <a:ext cx="1897942" cy="219456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5303520" y="3200400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Back: GoPro-style mount, vents</a:t>
            </a:r>
            <a:endParaRPr lang="en-US" sz="1000" dirty="0"/>
          </a:p>
        </p:txBody>
      </p:sp>
      <p:pic>
        <p:nvPicPr>
          <p:cNvPr id="8" name="Image 2" descr="/home/aman/Desktop/viswakarma/biothon/visiion aid/submission/ppt/assets/pod_fron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34871" y="3520440"/>
            <a:ext cx="1269017" cy="1600200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5303520" y="5120640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Front: sensor housings</a:t>
            </a:r>
            <a:endParaRPr lang="en-US" sz="1000" dirty="0"/>
          </a:p>
        </p:txBody>
      </p:sp>
      <p:sp>
        <p:nvSpPr>
          <p:cNvPr id="10" name="Shape 5"/>
          <p:cNvSpPr/>
          <p:nvPr/>
        </p:nvSpPr>
        <p:spPr>
          <a:xfrm>
            <a:off x="7818120" y="1005840"/>
            <a:ext cx="3959352" cy="4370832"/>
          </a:xfrm>
          <a:prstGeom prst="roundRect">
            <a:avLst>
              <a:gd name="adj" fmla="val 1386"/>
            </a:avLst>
          </a:prstGeom>
          <a:solidFill>
            <a:srgbClr val="F3F5FA"/>
          </a:solidFill>
          <a:ln w="9525">
            <a:solidFill>
              <a:srgbClr val="DFE4EE"/>
            </a:solidFill>
            <a:prstDash val="solid"/>
          </a:ln>
        </p:spPr>
      </p:sp>
      <p:sp>
        <p:nvSpPr>
          <p:cNvPr id="11" name="Text 6"/>
          <p:cNvSpPr txBox="1"/>
          <p:nvPr/>
        </p:nvSpPr>
        <p:spPr>
          <a:xfrm>
            <a:off x="7955280" y="1097280"/>
            <a:ext cx="3685032" cy="4187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Mechanical specification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Envelope: </a:t>
            </a:r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112 × 84 × 48 mm shell + front housings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Model: </a:t>
            </a:r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19-parameter spreadsheet drives the model; shell sketch fully constrained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Housings: </a:t>
            </a:r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 sensor +25°, side sensors ±15° yaw, LiDAR −35°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Mount: </a:t>
            </a:r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GoPro-style 2-finger (3 mm, M5) on a chest harness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Cooling: </a:t>
            </a:r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side + top/bottom vents for the Pi 5 active cooler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Interference check: </a:t>
            </a:r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mm³ vs Pi, carrier, Tang Nano, sensors</a:t>
            </a:r>
            <a:endParaRPr lang="en-US" sz="1500" dirty="0"/>
          </a:p>
        </p:txBody>
      </p:sp>
      <p:sp>
        <p:nvSpPr>
          <p:cNvPr id="12" name="Shape 7"/>
          <p:cNvSpPr/>
          <p:nvPr/>
        </p:nvSpPr>
        <p:spPr>
          <a:xfrm>
            <a:off x="411480" y="5577840"/>
            <a:ext cx="11365992" cy="420624"/>
          </a:xfrm>
          <a:prstGeom prst="roundRect">
            <a:avLst>
              <a:gd name="adj" fmla="val 10870"/>
            </a:avLst>
          </a:prstGeom>
          <a:solidFill>
            <a:srgbClr val="EEF6E4"/>
          </a:solidFill>
          <a:ln w="9525">
            <a:solidFill>
              <a:srgbClr val="C9E3A8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548640" y="5577840"/>
            <a:ext cx="11109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6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iteration: </a:t>
            </a:r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adding the Tang Nano 3D model showed a 182 mm³ clash with the lid (171 mm³ of it the HDMI connector) - shell depth raised 44 → 48 mm in one parameter; clash now 0 mm³.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3200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B7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2" type="title" hasCustomPrompt="1"/>
          </p:nvPr>
        </p:nvSpPr>
        <p:spPr>
          <a:xfrm>
            <a:off x="411480" y="256032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 Selection &amp; FEA (chest mount)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9692640" y="347472"/>
            <a:ext cx="1600200" cy="274320"/>
          </a:xfrm>
          <a:prstGeom prst="roundRect">
            <a:avLst>
              <a:gd name="adj" fmla="val 26667"/>
            </a:avLst>
          </a:prstGeom>
          <a:solidFill>
            <a:srgbClr val="EEF6E4"/>
          </a:solidFill>
          <a:ln w="9525">
            <a:solidFill>
              <a:srgbClr val="C9E3A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F6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SIMULATED</a:t>
            </a:r>
            <a:endParaRPr lang="en-US" sz="900" dirty="0"/>
          </a:p>
        </p:txBody>
      </p:sp>
      <p:pic>
        <p:nvPicPr>
          <p:cNvPr id="4" name="Image 0" descr="/home/aman/Desktop/viswakarma/biothon/visiion aid/submission/ppt/assets/fea_convergen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980166"/>
            <a:ext cx="6949440" cy="2565947"/>
          </a:xfrm>
          <a:prstGeom prst="rect">
            <a:avLst/>
          </a:prstGeom>
        </p:spPr>
      </p:pic>
      <p:pic>
        <p:nvPicPr>
          <p:cNvPr id="5" name="Image 1" descr="/home/aman/Desktop/viswakarma/biothon/visiion aid/submission/ppt/assets/fea_contour_v1_sharp_side20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6497" y="3611880"/>
            <a:ext cx="2533247" cy="210312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411480" y="5532120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 sharp roots - 20 N side</a:t>
            </a:r>
            <a:endParaRPr lang="en-US" sz="1000" dirty="0"/>
          </a:p>
        </p:txBody>
      </p:sp>
      <p:pic>
        <p:nvPicPr>
          <p:cNvPr id="7" name="Image 2" descr="/home/aman/Desktop/viswakarma/biothon/visiion aid/submission/ppt/assets/fea_contour_v2_fillet1p5_side20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52642" y="3611880"/>
            <a:ext cx="2633276" cy="2103120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3977640" y="5532120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v2 1.5 mm fillets - 20 N side</a:t>
            </a:r>
            <a:endParaRPr lang="en-US" sz="10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543800" y="960120"/>
          <a:ext cx="4233672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1325880"/>
                <a:gridCol w="208483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Material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32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Tg / softening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32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Choice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325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 60 °C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- softens in a car / summer sun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PETG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 80 °C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 - tough, easy to print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 100 °C, UV-stable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Stage 3 option outdoors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4"/>
          <p:cNvSpPr/>
          <p:nvPr/>
        </p:nvSpPr>
        <p:spPr>
          <a:xfrm>
            <a:off x="7543800" y="2514600"/>
            <a:ext cx="4233672" cy="3154680"/>
          </a:xfrm>
          <a:prstGeom prst="roundRect">
            <a:avLst>
              <a:gd name="adj" fmla="val 1739"/>
            </a:avLst>
          </a:prstGeom>
          <a:solidFill>
            <a:srgbClr val="F3F5FA"/>
          </a:solidFill>
          <a:ln w="9525">
            <a:solidFill>
              <a:srgbClr val="DFE4EE"/>
            </a:solidFill>
            <a:prstDash val="solid"/>
          </a:ln>
        </p:spPr>
      </p:sp>
      <p:sp>
        <p:nvSpPr>
          <p:cNvPr id="11" name="Text 5"/>
          <p:cNvSpPr txBox="1"/>
          <p:nvPr/>
        </p:nvSpPr>
        <p:spPr>
          <a:xfrm>
            <a:off x="7680960" y="2606040"/>
            <a:ext cx="3959352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FreeCAD FEM + Gmsh + CalculiX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 A: </a:t>
            </a:r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 N down (0.3 kg × ~17 g bump); B: 20 N sideways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PETG: </a:t>
            </a:r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2.0 GPa, ν 0.38, yield ≈ 50 MPa; required FoS ≥ 3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Result: </a:t>
            </a:r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v2 worst FoS 8.7 (every run ≥ 8.6); max deflection 0.064 mm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v1: </a:t>
            </a:r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stress kept rising with mesh refinement → sharp-corner singularity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v2: </a:t>
            </a:r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1.5 mm root fillets → converged (≤ 3 % spread, 3 meshes); now in the CAD</a:t>
            </a:r>
            <a:endParaRPr lang="en-US" sz="1500" dirty="0"/>
          </a:p>
        </p:txBody>
      </p:sp>
      <p:sp>
        <p:nvSpPr>
          <p:cNvPr id="12" name="Shape 6"/>
          <p:cNvSpPr/>
          <p:nvPr/>
        </p:nvSpPr>
        <p:spPr>
          <a:xfrm>
            <a:off x="411480" y="5852160"/>
            <a:ext cx="11365992" cy="420624"/>
          </a:xfrm>
          <a:prstGeom prst="roundRect">
            <a:avLst>
              <a:gd name="adj" fmla="val 10870"/>
            </a:avLst>
          </a:prstGeom>
          <a:solidFill>
            <a:srgbClr val="EEF6E4"/>
          </a:solidFill>
          <a:ln w="9525">
            <a:solidFill>
              <a:srgbClr val="C9E3A8"/>
            </a:solidFill>
            <a:prstDash val="solid"/>
          </a:ln>
        </p:spPr>
      </p:sp>
      <p:sp>
        <p:nvSpPr>
          <p:cNvPr id="13" name="Text 7"/>
          <p:cNvSpPr txBox="1"/>
          <p:nvPr/>
        </p:nvSpPr>
        <p:spPr>
          <a:xfrm>
            <a:off x="548640" y="5852160"/>
            <a:ext cx="11109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6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Limitations: </a:t>
            </a:r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isotropic model (printed parts are anisotropic); finest v2 mesh failed to solve, so v2 uses 3 mesh levels; a printed-mount pull test is planned for Stage 3.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3200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B7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2" type="title" hasCustomPrompt="1"/>
          </p:nvPr>
        </p:nvSpPr>
        <p:spPr>
          <a:xfrm>
            <a:off x="411480" y="256032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Electronics - Schematic &amp; Carrier PCB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9692640" y="347472"/>
            <a:ext cx="1600200" cy="274320"/>
          </a:xfrm>
          <a:prstGeom prst="roundRect">
            <a:avLst>
              <a:gd name="adj" fmla="val 26667"/>
            </a:avLst>
          </a:prstGeom>
          <a:solidFill>
            <a:srgbClr val="EEF6E4"/>
          </a:solidFill>
          <a:ln w="9525">
            <a:solidFill>
              <a:srgbClr val="C9E3A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F6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KICAD 9</a:t>
            </a:r>
            <a:endParaRPr lang="en-US" sz="900" dirty="0"/>
          </a:p>
        </p:txBody>
      </p:sp>
      <p:pic>
        <p:nvPicPr>
          <p:cNvPr id="4" name="Image 0" descr="/home/aman/Desktop/viswakarma/biothon/visiion aid/submission/ppt/assets/schemati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32936" y="960120"/>
            <a:ext cx="6723648" cy="475488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11480" y="5532120"/>
            <a:ext cx="6766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Carrier-board schematic (A3): power, Pi header, FPGA, sensors, haptics, buttons, test points</a:t>
            </a:r>
            <a:endParaRPr lang="en-US" sz="1000" dirty="0"/>
          </a:p>
        </p:txBody>
      </p:sp>
      <p:pic>
        <p:nvPicPr>
          <p:cNvPr id="6" name="Image 1" descr="/home/aman/Desktop/viswakarma/biothon/visiion aid/submission/ppt/assets/pcb_3d_is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20477" y="960120"/>
            <a:ext cx="3451718" cy="25146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7315200" y="3566160"/>
            <a:ext cx="4462272" cy="2148840"/>
          </a:xfrm>
          <a:prstGeom prst="roundRect">
            <a:avLst>
              <a:gd name="adj" fmla="val 2553"/>
            </a:avLst>
          </a:prstGeom>
          <a:solidFill>
            <a:srgbClr val="F3F5FA"/>
          </a:solidFill>
          <a:ln w="9525">
            <a:solidFill>
              <a:srgbClr val="DFE4EE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7452360" y="3657600"/>
            <a:ext cx="4187952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distribution &amp; checks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bank → Pi 5 → header 5 V → 500 mA PTC → +5 V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+5 V → AMS1117 → +3V3 (sensors, motors, IMU)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+5 V → SS14 → Tang Nano (blocks USB back-feed)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Verified: </a:t>
            </a:r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ERC 0 · DRC 0 · unrouted 0 · parity 0</a:t>
            </a:r>
            <a:endParaRPr lang="en-US" sz="1500" dirty="0"/>
          </a:p>
        </p:txBody>
      </p:sp>
      <p:sp>
        <p:nvSpPr>
          <p:cNvPr id="9" name="Shape 5"/>
          <p:cNvSpPr/>
          <p:nvPr/>
        </p:nvSpPr>
        <p:spPr>
          <a:xfrm>
            <a:off x="411480" y="5852160"/>
            <a:ext cx="11365992" cy="420624"/>
          </a:xfrm>
          <a:prstGeom prst="roundRect">
            <a:avLst>
              <a:gd name="adj" fmla="val 10870"/>
            </a:avLst>
          </a:prstGeom>
          <a:solidFill>
            <a:srgbClr val="EEF6E4"/>
          </a:solidFill>
          <a:ln w="9525">
            <a:solidFill>
              <a:srgbClr val="C9E3A8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48640" y="5852160"/>
            <a:ext cx="11109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6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PCB: </a:t>
            </a:r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 × 56 mm, 2 layers, Pi 5 outline + mounting holes, 20 mm standoffs + 40-way ribbon; 3.3 V-bank FPGA pins only; MOSFET motor drivers with flyback diodes; Gerbers generated.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3200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B7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2" type="title" hasCustomPrompt="1"/>
          </p:nvPr>
        </p:nvSpPr>
        <p:spPr>
          <a:xfrm>
            <a:off x="411480" y="256032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 of Materials &amp; Sourcing</a:t>
            </a:r>
            <a:endParaRPr lang="en-US" sz="28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005840"/>
          <a:ext cx="7589520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2514600"/>
                <a:gridCol w="411480"/>
                <a:gridCol w="2240280"/>
                <a:gridCol w="118872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Component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32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 / specification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32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32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Source · origin · lead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32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 (basis)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325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 computer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Raspberry Pi 5 4 GB + active cooler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KSP Electronics · imported · out of stock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15,050 (quote + est.)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FPGA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Sipeed Tang Nano 9K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Probots · imported · out of stock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2,999 (quote)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Camera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 Camera Module 3 + cable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Thingbits · imported · in stock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3,358 (quote + est.)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LiDAR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Benewake TF-Luna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Probots · imported · out of stock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2,118 (quote)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Ultrasonic + IMU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RCWL-1601 × 4, MPU-6050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Robu · local · 2-4 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800 (est.)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Feedback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Coin motors × 2, BT bone-conduction headset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Robu / Amazon.in · 2-5 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2,120 (est.)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Power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10,000 mAh BIS power bank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local · 1-3 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1,200 (est.)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Carrier PCB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2-layer fab ×5 + SMD parts + connectors + ribbon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LionCircuits (domestic) · 5-7 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3,250 (est.)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Mechanical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PETG, standoffs, inserts, harness, buttons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Robu / Amazon.in · 2-5 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2,350 (est.)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microSD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 GB A2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local · 1-3 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700 (est.)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Grant ₹30,000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33,945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8183880" y="1005840"/>
            <a:ext cx="3593592" cy="2331720"/>
          </a:xfrm>
          <a:prstGeom prst="roundRect">
            <a:avLst>
              <a:gd name="adj" fmla="val 2353"/>
            </a:avLst>
          </a:prstGeom>
          <a:solidFill>
            <a:srgbClr val="EEF6E4"/>
          </a:solidFill>
          <a:ln w="9525">
            <a:solidFill>
              <a:srgbClr val="C9E3A8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321040" y="1097280"/>
            <a:ext cx="3319272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 - honest status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except the Pi 5 board: ₹19,445.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 5 4 GB on 9 Oct: ₹12,600-14,500, out of stock → ₹2,045-3,945 over the grant.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Rule: </a:t>
            </a:r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 5 must be ≤ ₹10,555 to fit; else re-quote or cover the gap from team funds.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8183880" y="3474720"/>
            <a:ext cx="3593592" cy="2148840"/>
          </a:xfrm>
          <a:prstGeom prst="roundRect">
            <a:avLst>
              <a:gd name="adj" fmla="val 2553"/>
            </a:avLst>
          </a:prstGeom>
          <a:solidFill>
            <a:srgbClr val="F3F5FA"/>
          </a:solidFill>
          <a:ln w="9525">
            <a:solidFill>
              <a:srgbClr val="DFE4E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321040" y="3566160"/>
            <a:ext cx="3319272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Battery life (calculated, cited Pi 5 W)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 5: ≈ 3.0 W idle, ≈ 8.8 W full load (published); rest 1.34 W (est.)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always on: </a:t>
            </a:r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10.1 W → 3.1 h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Event-triggered, ~50 % (assumed): </a:t>
            </a:r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7.2 W → 4.3 h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idle: </a:t>
            </a:r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4.3 W → 7.2 h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411480" y="5806440"/>
            <a:ext cx="11365992" cy="420624"/>
          </a:xfrm>
          <a:prstGeom prst="roundRect">
            <a:avLst>
              <a:gd name="adj" fmla="val 10870"/>
            </a:avLst>
          </a:prstGeom>
          <a:solidFill>
            <a:srgbClr val="EEF6E4"/>
          </a:solidFill>
          <a:ln w="9525">
            <a:solidFill>
              <a:srgbClr val="C9E3A8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48640" y="5806440"/>
            <a:ext cx="11109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6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Procurement status: </a:t>
            </a:r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ordered in Stage 2. Quotes are live listings checked 9 Oct 2026; Pi 5, Tang Nano 9K and TF-Luna were out of stock that day - re-quote and order early. Itemised BOM: design/bom/VisionAid_BOM_Power.xlsx.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3200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B7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2" type="title" hasCustomPrompt="1"/>
          </p:nvPr>
        </p:nvSpPr>
        <p:spPr>
          <a:xfrm>
            <a:off x="411480" y="256032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FPGA Safety Island - Verification &amp; Implementation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9692640" y="347472"/>
            <a:ext cx="1600200" cy="274320"/>
          </a:xfrm>
          <a:prstGeom prst="roundRect">
            <a:avLst>
              <a:gd name="adj" fmla="val 26667"/>
            </a:avLst>
          </a:prstGeom>
          <a:solidFill>
            <a:srgbClr val="EEF6E4"/>
          </a:solidFill>
          <a:ln w="9525">
            <a:solidFill>
              <a:srgbClr val="C9E3A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F6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 + REAL P&amp;R</a:t>
            </a:r>
            <a:endParaRPr lang="en-US" sz="900" dirty="0"/>
          </a:p>
        </p:txBody>
      </p:sp>
      <p:pic>
        <p:nvPicPr>
          <p:cNvPr id="4" name="Image 0" descr="/home/aman/Desktop/viswakarma/biothon/visiion aid/submission/ppt/assets/waveform_latency_zoo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560195"/>
            <a:ext cx="6858000" cy="314325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11480" y="5257800"/>
            <a:ext cx="6858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Plotted event: 136 ns from echo edge to motor ON (motor rises on the same clock as the zone change). The testbench monitor samples 2 clocks later, so its 214 ns is a conservative upper bound.</a:t>
            </a:r>
            <a:endParaRPr lang="en-US" sz="10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452360" y="960120"/>
          <a:ext cx="432511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947672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Testbench check (Icarus Verilog)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32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Result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325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Distance 1500 / 2500 mm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1499 / 2499 mm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Echo edge → motor 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≤ 214 ns (monitor bound, 4 events); 136 ns on waveform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Frames to Pi (Verilog / Python)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192 / 192 decoded, 0 bad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LiDAR drop-off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alert 22.3 ms after change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 heartbeat lost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AI-offline 666 ms; alerts kept working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Sensor unplugged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fault flag + FAULT_N low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Overall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 TESTS PASSED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3"/>
          <p:cNvSpPr/>
          <p:nvPr/>
        </p:nvSpPr>
        <p:spPr>
          <a:xfrm>
            <a:off x="7452360" y="4114800"/>
            <a:ext cx="4325112" cy="1600200"/>
          </a:xfrm>
          <a:prstGeom prst="roundRect">
            <a:avLst>
              <a:gd name="adj" fmla="val 3429"/>
            </a:avLst>
          </a:prstGeom>
          <a:solidFill>
            <a:srgbClr val="F3F5FA"/>
          </a:solidFill>
          <a:ln w="9525">
            <a:solidFill>
              <a:srgbClr val="DFE4EE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7589520" y="4206240"/>
            <a:ext cx="4050792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 &amp; route + static timing (no hardware yet)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GW1NR-9 (nextpnr): </a:t>
            </a:r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Fmax 67.9 MHz vs 27 MHz ✓; LUT 17 %, FF 8 %; bitstream .fs built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Zynq-7020 (Vivado 2026.1): </a:t>
            </a:r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 met, WNS +30.2 ns</a:t>
            </a:r>
            <a:endParaRPr lang="en-US" sz="1500" dirty="0"/>
          </a:p>
        </p:txBody>
      </p:sp>
      <p:sp>
        <p:nvSpPr>
          <p:cNvPr id="9" name="Shape 5"/>
          <p:cNvSpPr/>
          <p:nvPr/>
        </p:nvSpPr>
        <p:spPr>
          <a:xfrm>
            <a:off x="411480" y="5852160"/>
            <a:ext cx="11365992" cy="420624"/>
          </a:xfrm>
          <a:prstGeom prst="roundRect">
            <a:avLst>
              <a:gd name="adj" fmla="val 10870"/>
            </a:avLst>
          </a:prstGeom>
          <a:solidFill>
            <a:srgbClr val="EEF6E4"/>
          </a:solidFill>
          <a:ln w="9525">
            <a:solidFill>
              <a:srgbClr val="C9E3A8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48640" y="5852160"/>
            <a:ext cx="11109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6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Cross-verified: </a:t>
            </a:r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Verilog FPGA accepted a command built by our Python Pi code, and the Python decoder read every byte the FPGA sent - both sides of the link agree.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3200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B7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2" type="title" hasCustomPrompt="1"/>
          </p:nvPr>
        </p:nvSpPr>
        <p:spPr>
          <a:xfrm>
            <a:off x="411480" y="256032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Path (Raspberry Pi software) - Proof of Concept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9692640" y="347472"/>
            <a:ext cx="1600200" cy="274320"/>
          </a:xfrm>
          <a:prstGeom prst="roundRect">
            <a:avLst>
              <a:gd name="adj" fmla="val 26667"/>
            </a:avLst>
          </a:prstGeom>
          <a:solidFill>
            <a:srgbClr val="EEF6E4"/>
          </a:solidFill>
          <a:ln w="9525">
            <a:solidFill>
              <a:srgbClr val="C9E3A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F6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· LAPTOP</a:t>
            </a:r>
            <a:endParaRPr lang="en-US" sz="900" dirty="0"/>
          </a:p>
        </p:txBody>
      </p:sp>
      <p:pic>
        <p:nvPicPr>
          <p:cNvPr id="4" name="Image 0" descr="/home/aman/Desktop/viswakarma/biothon/visiion aid/submission/ppt/assets/ai_path_resul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972179"/>
            <a:ext cx="11365992" cy="3267723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11480" y="4343400"/>
            <a:ext cx="5577840" cy="1371600"/>
          </a:xfrm>
          <a:prstGeom prst="roundRect">
            <a:avLst>
              <a:gd name="adj" fmla="val 4000"/>
            </a:avLst>
          </a:prstGeom>
          <a:solidFill>
            <a:srgbClr val="F3F5FA"/>
          </a:solidFill>
          <a:ln w="9525">
            <a:solidFill>
              <a:srgbClr val="DFE4E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4434840"/>
            <a:ext cx="5303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runs (same code for the Pi 5)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YOLOv5n (ONNX) → hazard + side; RapidOCR; Piper TTS English + Hindi; alert manager; IMU floor baseline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Event-triggered: AI runs only when the FPGA sees an obstacle &lt; 3 m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6172200" y="4343400"/>
            <a:ext cx="5605272" cy="1371600"/>
          </a:xfrm>
          <a:prstGeom prst="roundRect">
            <a:avLst>
              <a:gd name="adj" fmla="val 4000"/>
            </a:avLst>
          </a:prstGeom>
          <a:solidFill>
            <a:srgbClr val="EEF6E4"/>
          </a:solidFill>
          <a:ln w="9525">
            <a:solidFill>
              <a:srgbClr val="C9E3A8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309360" y="4434840"/>
            <a:ext cx="533095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Full-loop replay (FPGA sim bytes → speech)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"Step down ahead. Stop."  ·  "Check device: head sensor."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"person, left, 1.6 metres" - WAV files in design/pi/results/replay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411480" y="5833872"/>
            <a:ext cx="11365992" cy="420624"/>
          </a:xfrm>
          <a:prstGeom prst="roundRect">
            <a:avLst>
              <a:gd name="adj" fmla="val 10870"/>
            </a:avLst>
          </a:prstGeom>
          <a:solidFill>
            <a:srgbClr val="EEF6E4"/>
          </a:solidFill>
          <a:ln w="9525">
            <a:solidFill>
              <a:srgbClr val="C9E3A8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48640" y="5833872"/>
            <a:ext cx="11109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6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scope: </a:t>
            </a:r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speeds measured on an i7 laptop (4 threads), NOT on a Pi 5; 211 ms excludes camera capture and audio playback. Accuracy is hardware-independent (COCO: 200 images vs human labels; OCR: 64 synthetic labels). Pi 5 timing in Stage 3.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3200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B7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2" type="title" hasCustomPrompt="1"/>
          </p:nvPr>
        </p:nvSpPr>
        <p:spPr>
          <a:xfrm>
            <a:off x="411480" y="256032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Sensor Coverage &amp; Drop-off Analysis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9692640" y="347472"/>
            <a:ext cx="1600200" cy="274320"/>
          </a:xfrm>
          <a:prstGeom prst="roundRect">
            <a:avLst>
              <a:gd name="adj" fmla="val 26667"/>
            </a:avLst>
          </a:prstGeom>
          <a:solidFill>
            <a:srgbClr val="EEF6E4"/>
          </a:solidFill>
          <a:ln w="9525">
            <a:solidFill>
              <a:srgbClr val="C9E3A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F6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CALCULATED + SIMULATED</a:t>
            </a:r>
            <a:endParaRPr lang="en-US" sz="900" dirty="0"/>
          </a:p>
        </p:txBody>
      </p:sp>
      <p:pic>
        <p:nvPicPr>
          <p:cNvPr id="4" name="Image 0" descr="/home/aman/Desktop/viswakarma/biothon/visiion aid/submission/ppt/assets/sensor_geometr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969721"/>
            <a:ext cx="11365992" cy="340979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11480" y="4480560"/>
            <a:ext cx="3657600" cy="1234440"/>
          </a:xfrm>
          <a:prstGeom prst="roundRect">
            <a:avLst>
              <a:gd name="adj" fmla="val 4444"/>
            </a:avLst>
          </a:prstGeom>
          <a:solidFill>
            <a:srgbClr val="EEF6E4"/>
          </a:solidFill>
          <a:ln w="9525">
            <a:solidFill>
              <a:srgbClr val="C9E3A8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4572000"/>
            <a:ext cx="3383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Drop-off: target met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LiDAR at −35° from 1.3 m sees a 15 cm step 1.86 m ahead (≈ 1.5 s at walking speed)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4251960" y="4480560"/>
            <a:ext cx="3657600" cy="1234440"/>
          </a:xfrm>
          <a:prstGeom prst="roundRect">
            <a:avLst>
              <a:gd name="adj" fmla="val 4444"/>
            </a:avLst>
          </a:prstGeom>
          <a:solidFill>
            <a:srgbClr val="F3F5FA"/>
          </a:solidFill>
          <a:ln w="9525">
            <a:solidFill>
              <a:srgbClr val="DFE4EE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4389120" y="4572000"/>
            <a:ext cx="3383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Found: walking sway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±3° chest sway → 25 false alarms in 20 s; IMU-corrected baseline → 0 (now in the Pi code)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8092440" y="4480560"/>
            <a:ext cx="3685032" cy="1234440"/>
          </a:xfrm>
          <a:prstGeom prst="roundRect">
            <a:avLst>
              <a:gd name="adj" fmla="val 4444"/>
            </a:avLst>
          </a:prstGeom>
          <a:solidFill>
            <a:srgbClr val="F3F5FA"/>
          </a:solidFill>
          <a:ln w="9525">
            <a:solidFill>
              <a:srgbClr val="DFE4E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229600" y="4572000"/>
            <a:ext cx="341071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Found: waist-height gap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1 m ahead, 0.3-1.0 m height is not covered → tilt forward sensors −10° in CAD v2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411480" y="5833872"/>
            <a:ext cx="11365992" cy="420624"/>
          </a:xfrm>
          <a:prstGeom prst="roundRect">
            <a:avLst>
              <a:gd name="adj" fmla="val 10870"/>
            </a:avLst>
          </a:prstGeom>
          <a:solidFill>
            <a:srgbClr val="EEF6E4"/>
          </a:solidFill>
          <a:ln w="9525">
            <a:solidFill>
              <a:srgbClr val="C9E3A8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548640" y="5833872"/>
            <a:ext cx="11109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6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Assumptions: </a:t>
            </a:r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1.3 m pod height, 15° ultrasonic half-beam (datasheet class), ±3° sway at 1.8 Hz, 1 cm LiDAR noise - design/analysis/sensor_geometry.py.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3200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B7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2" type="title" hasCustomPrompt="1"/>
          </p:nvPr>
        </p:nvSpPr>
        <p:spPr>
          <a:xfrm>
            <a:off x="411480" y="256032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Maker Journey - Evidence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11480" y="1005840"/>
            <a:ext cx="2743200" cy="2103120"/>
          </a:xfrm>
          <a:prstGeom prst="roundRect">
            <a:avLst>
              <a:gd name="adj" fmla="val 2609"/>
            </a:avLst>
          </a:prstGeom>
          <a:solidFill>
            <a:srgbClr val="FBEDEC"/>
          </a:solidFill>
          <a:ln w="12700">
            <a:solidFill>
              <a:srgbClr val="B3261E"/>
            </a:solidFill>
            <a:prstDash val="dash"/>
          </a:ln>
        </p:spPr>
      </p:sp>
      <p:sp>
        <p:nvSpPr>
          <p:cNvPr id="4" name="Text 2"/>
          <p:cNvSpPr txBox="1"/>
          <p:nvPr/>
        </p:nvSpPr>
        <p:spPr>
          <a:xfrm>
            <a:off x="548640" y="1005840"/>
            <a:ext cx="24688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 TO ADD: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member doing CAD / KiCad with SVNIT ID badge visible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11480" y="3246120"/>
            <a:ext cx="2743200" cy="2103120"/>
          </a:xfrm>
          <a:prstGeom prst="roundRect">
            <a:avLst>
              <a:gd name="adj" fmla="val 2609"/>
            </a:avLst>
          </a:prstGeom>
          <a:solidFill>
            <a:srgbClr val="FBEDEC"/>
          </a:solidFill>
          <a:ln w="12700">
            <a:solidFill>
              <a:srgbClr val="B3261E"/>
            </a:solidFill>
            <a:prstDash val="dash"/>
          </a:ln>
        </p:spPr>
      </p:sp>
      <p:sp>
        <p:nvSpPr>
          <p:cNvPr id="6" name="Text 4"/>
          <p:cNvSpPr txBox="1"/>
          <p:nvPr/>
        </p:nvSpPr>
        <p:spPr>
          <a:xfrm>
            <a:off x="548640" y="3246120"/>
            <a:ext cx="24688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 TO ADD: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joint review with faculty guide / IIT Indore mentor</a:t>
            </a:r>
            <a:endParaRPr lang="en-US" sz="1300" dirty="0"/>
          </a:p>
        </p:txBody>
      </p:sp>
      <p:pic>
        <p:nvPicPr>
          <p:cNvPr id="7" name="Image 0" descr="/home/aman/Desktop/viswakarma/biothon/visiion aid/submission/ppt/assets/freecad_tre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337560" y="1005840"/>
            <a:ext cx="4114800" cy="27432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3337560" y="3749040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FreeCAD feature tree - FingerRootFillet R 1.5 mm</a:t>
            </a:r>
            <a:endParaRPr lang="en-US" sz="1000" dirty="0"/>
          </a:p>
        </p:txBody>
      </p:sp>
      <p:pic>
        <p:nvPicPr>
          <p:cNvPr id="9" name="Image 1" descr="/home/aman/Desktop/viswakarma/biothon/visiion aid/submission/ppt/assets/drc_erc_strip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1300344"/>
            <a:ext cx="4142232" cy="101119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7635240" y="2587752"/>
            <a:ext cx="4142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KiCad DRC: 0 violations, 0 unconnected  ·  ERC: 0 errors, 0 warnings</a:t>
            </a:r>
            <a:endParaRPr lang="en-US" sz="1000" dirty="0"/>
          </a:p>
        </p:txBody>
      </p:sp>
      <p:pic>
        <p:nvPicPr>
          <p:cNvPr id="11" name="Image 2" descr="/home/aman/Desktop/viswakarma/biothon/visiion aid/submission/ppt/assets/gtkwave_cro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6516" y="4069080"/>
            <a:ext cx="8382000" cy="91440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3337560" y="4983480"/>
            <a:ext cx="84399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GTKWave: echo falls → distance 749 mm → zone 3 → left motor ON (simulation)</a:t>
            </a:r>
            <a:endParaRPr lang="en-US" sz="1000" dirty="0"/>
          </a:p>
        </p:txBody>
      </p:sp>
      <p:sp>
        <p:nvSpPr>
          <p:cNvPr id="13" name="Shape 8"/>
          <p:cNvSpPr/>
          <p:nvPr/>
        </p:nvSpPr>
        <p:spPr>
          <a:xfrm>
            <a:off x="7635240" y="2880360"/>
            <a:ext cx="4142232" cy="1097280"/>
          </a:xfrm>
          <a:prstGeom prst="roundRect">
            <a:avLst>
              <a:gd name="adj" fmla="val 5000"/>
            </a:avLst>
          </a:prstGeom>
          <a:solidFill>
            <a:srgbClr val="F3F5FA"/>
          </a:solidFill>
          <a:ln w="9525">
            <a:solidFill>
              <a:srgbClr val="DFE4EE"/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7772400" y="2971800"/>
            <a:ext cx="38679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repository (native files)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github.com/silentaf/viswa_id1 - .FCStd, .step, .kicad_sch/.kicad_pcb, .v, .xlsx, timestamped commits</a:t>
            </a:r>
            <a:endParaRPr lang="en-US" sz="1500" dirty="0"/>
          </a:p>
        </p:txBody>
      </p:sp>
      <p:sp>
        <p:nvSpPr>
          <p:cNvPr id="15" name="Shape 10"/>
          <p:cNvSpPr/>
          <p:nvPr/>
        </p:nvSpPr>
        <p:spPr>
          <a:xfrm>
            <a:off x="411480" y="5806440"/>
            <a:ext cx="11365992" cy="420624"/>
          </a:xfrm>
          <a:prstGeom prst="roundRect">
            <a:avLst>
              <a:gd name="adj" fmla="val 10870"/>
            </a:avLst>
          </a:prstGeom>
          <a:solidFill>
            <a:srgbClr val="EEF6E4"/>
          </a:solidFill>
          <a:ln w="9525">
            <a:solidFill>
              <a:srgbClr val="C9E3A8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548640" y="5806440"/>
            <a:ext cx="11109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6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1 → 2: </a:t>
            </a:r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PYNQ-Z2 → Pi 5 + Tang Nano 9K; per-stage latency specs; LiDAR for drop-offs; FEA-driven fillet; CAD clash fix 44 → 48 mm (details on the next slide).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3200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B7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2" type="title" hasCustomPrompt="1"/>
          </p:nvPr>
        </p:nvSpPr>
        <p:spPr>
          <a:xfrm>
            <a:off x="411480" y="256032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1 → Stage 2 Engineering Iterations</a:t>
            </a:r>
            <a:endParaRPr lang="en-US" sz="28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005840"/>
          <a:ext cx="11365992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3931920"/>
                <a:gridCol w="4416552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Stage 1 said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32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Stage 2 decision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32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325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PYNQ-Z2 does everything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 5 (AI) + Tang Nano 9K FPGA (safety island)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× A9 650 MHz vs 4 × A76 2.4 GHz for AI; fault isolation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"&lt;10 ms" reflex, "&lt;100 ms" on cover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Per-stage specs: echo → motor ≤ 1 ms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Echo from 3 m alone takes ≈ 17.5 ms - "&lt;10 ms end-to-end" is impossible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Downward ultrasonic for drop-offs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Downward TF-Luna LiDAR (−35°)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Narrow beam gives a clean floor-distance signal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Wristband with 2 motors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 / R motors on the chest straps, wired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Two motors on one wrist are hard to tell apart; no radio in safety path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Custom bone-conduction driver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Bluetooth bone-conduction headset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 5 has no analog audio; speech is the information channel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"&lt; ₹5,500 BOM"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Prototype BOM ₹33,945 at 9 Oct quotes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 5 + camera alone exceed ₹5,500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"250M+", "₹4-6 lakh" competitors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Cited 2020 data; SmartCane disclosed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Accuracy and honest public-search disclosure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10-15 pilot users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Stage 3, after ethics approval + O&amp;M instructor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Honest scope for a design round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411480" y="5806440"/>
            <a:ext cx="11365992" cy="420624"/>
          </a:xfrm>
          <a:prstGeom prst="roundRect">
            <a:avLst>
              <a:gd name="adj" fmla="val 10870"/>
            </a:avLst>
          </a:prstGeom>
          <a:solidFill>
            <a:srgbClr val="EEF6E4"/>
          </a:solidFill>
          <a:ln w="9525">
            <a:solidFill>
              <a:srgbClr val="C9E3A8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48640" y="5806440"/>
            <a:ext cx="11109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6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 by our own analysis: </a:t>
            </a:r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 → 1.5 mm root fillets; CAD clash → shell 44 → 48 mm; sway simulation → IMU floor baseline; power analysis → event-triggered AI; tests → OCR word-order bug fixed.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3200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B7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2" type="title" hasCustomPrompt="1"/>
          </p:nvPr>
        </p:nvSpPr>
        <p:spPr>
          <a:xfrm>
            <a:off x="411480" y="256032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&amp; Hazard Mitigation</a:t>
            </a:r>
            <a:endParaRPr lang="en-US" sz="28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005840"/>
          <a:ext cx="7680960" cy="914400"/>
        </p:xfrm>
        <a:graphic>
          <a:graphicData uri="http://schemas.openxmlformats.org/drawingml/2006/table">
            <a:tbl>
              <a:tblPr/>
              <a:tblGrid>
                <a:gridCol w="2148840"/>
                <a:gridCol w="1691640"/>
                <a:gridCol w="384048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Failure mode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32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Hazard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32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Embedded fail-safe / mitigation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325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Ultrasonic stuck / unplugged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Missed obstacle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No-response detector (3 slots) → buzzer "check device" + FAULT_N (simulated)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 crash / hang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object names / OCR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FPGA watchdog → "AI offline" chirp; alert path unaffected (simulated)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Bluetooth headset drops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speech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Haptics carry all safety alerts; distinct cue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Walking sway / tilt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False drop-off alarms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IMU-corrected floor baseline: 25 → 0 false alarms (simulated)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 5 overheats in pod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Throttling, slow AI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Active cooler + vents in CAD; thermal test in Stage 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Carrier short circuit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 5 V rail damage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 mA PTC fuse on the header supply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Battery fire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Burns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BIS-certified power bank only - no loose Li-ion cells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Alert fatigue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User ignores alerts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Zone hysteresis + quiet mode (silences "info" only)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8275320" y="1005840"/>
            <a:ext cx="3502152" cy="4526280"/>
          </a:xfrm>
          <a:prstGeom prst="roundRect">
            <a:avLst>
              <a:gd name="adj" fmla="val 1567"/>
            </a:avLst>
          </a:prstGeom>
          <a:solidFill>
            <a:srgbClr val="F3F5FA"/>
          </a:solidFill>
          <a:ln w="9525">
            <a:solidFill>
              <a:srgbClr val="DFE4EE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412480" y="1097280"/>
            <a:ext cx="3227832" cy="434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Standards considered in the design (not certified)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IEC 62368-1 / IS 13252 - </a:t>
            </a:r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ICT equipment safety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IEC 62133-2 / IS 16046 - </a:t>
            </a:r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Li-ion (via BIS power bank)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IEC 60529 - </a:t>
            </a:r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IP54 target for the pod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10993-5/-10 - </a:t>
            </a:r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skin-contact materials (harness)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9999 - </a:t>
            </a:r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assistive-product classification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WPC / ETA - </a:t>
            </a:r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pre-certified radio modules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411480" y="5715000"/>
            <a:ext cx="11365992" cy="420624"/>
          </a:xfrm>
          <a:prstGeom prst="roundRect">
            <a:avLst>
              <a:gd name="adj" fmla="val 10870"/>
            </a:avLst>
          </a:prstGeom>
          <a:solidFill>
            <a:srgbClr val="EEF6E4"/>
          </a:solidFill>
          <a:ln w="9525">
            <a:solidFill>
              <a:srgbClr val="C9E3A8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5715000"/>
            <a:ext cx="11109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6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principle: </a:t>
            </a:r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cane stays the primary aid - VisionAid only adds warnings, and its alert path is independent of the AI computer.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3200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B7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2" type="title" hasCustomPrompt="1"/>
          </p:nvPr>
        </p:nvSpPr>
        <p:spPr>
          <a:xfrm>
            <a:off x="411480" y="256032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 - 4-Month Fabrication Plan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11480" y="1051560"/>
            <a:ext cx="2697480" cy="502920"/>
          </a:xfrm>
          <a:prstGeom prst="roundRect">
            <a:avLst>
              <a:gd name="adj" fmla="val 10909"/>
            </a:avLst>
          </a:prstGeom>
          <a:solidFill>
            <a:srgbClr val="25325F"/>
          </a:solidFill>
          <a:ln w="9525">
            <a:solidFill>
              <a:srgbClr val="25325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051560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 2026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11480" y="1691640"/>
            <a:ext cx="2697480" cy="2743200"/>
          </a:xfrm>
          <a:prstGeom prst="roundRect">
            <a:avLst>
              <a:gd name="adj" fmla="val 2034"/>
            </a:avLst>
          </a:prstGeom>
          <a:solidFill>
            <a:srgbClr val="F3F5FA"/>
          </a:solidFill>
          <a:ln w="9525">
            <a:solidFill>
              <a:srgbClr val="DFE4E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1783080"/>
            <a:ext cx="242316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 parts + carrier PCB (LionCircuits)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FPGA + sensor bring-up on the bench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Range, latency (logic analyser at TP4/TP5), power tests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127248" y="1298448"/>
            <a:ext cx="146304" cy="914"/>
          </a:xfrm>
          <a:prstGeom prst="line">
            <a:avLst/>
          </a:prstGeom>
          <a:noFill/>
          <a:ln w="22225">
            <a:solidFill>
              <a:srgbClr val="5B6BA8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3291840" y="1051560"/>
            <a:ext cx="2697480" cy="502920"/>
          </a:xfrm>
          <a:prstGeom prst="roundRect">
            <a:avLst>
              <a:gd name="adj" fmla="val 10909"/>
            </a:avLst>
          </a:prstGeom>
          <a:solidFill>
            <a:srgbClr val="5B6BA8"/>
          </a:solidFill>
          <a:ln w="9525">
            <a:solidFill>
              <a:srgbClr val="5B6BA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337560" y="1051560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 2026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3291840" y="1691640"/>
            <a:ext cx="2697480" cy="2743200"/>
          </a:xfrm>
          <a:prstGeom prst="roundRect">
            <a:avLst>
              <a:gd name="adj" fmla="val 2034"/>
            </a:avLst>
          </a:prstGeom>
          <a:solidFill>
            <a:srgbClr val="F3F5FA"/>
          </a:solidFill>
          <a:ln w="9525">
            <a:solidFill>
              <a:srgbClr val="DFE4E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429000" y="1783080"/>
            <a:ext cx="242316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PCB assembly; Pi software integration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 + fit enclosure; thermal test in pod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India-class dataset (auto-rickshaw, cow, pothole, drain)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007608" y="1298448"/>
            <a:ext cx="146304" cy="914"/>
          </a:xfrm>
          <a:prstGeom prst="line">
            <a:avLst/>
          </a:prstGeom>
          <a:noFill/>
          <a:ln w="22225">
            <a:solidFill>
              <a:srgbClr val="5B6BA8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6172200" y="1051560"/>
            <a:ext cx="2697480" cy="502920"/>
          </a:xfrm>
          <a:prstGeom prst="roundRect">
            <a:avLst>
              <a:gd name="adj" fmla="val 10909"/>
            </a:avLst>
          </a:prstGeom>
          <a:solidFill>
            <a:srgbClr val="25325F"/>
          </a:solidFill>
          <a:ln w="9525">
            <a:solidFill>
              <a:srgbClr val="25325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217920" y="1051560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 2027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6172200" y="1691640"/>
            <a:ext cx="2697480" cy="2743200"/>
          </a:xfrm>
          <a:prstGeom prst="roundRect">
            <a:avLst>
              <a:gd name="adj" fmla="val 2034"/>
            </a:avLst>
          </a:prstGeom>
          <a:solidFill>
            <a:srgbClr val="F3F5FA"/>
          </a:solidFill>
          <a:ln w="9525">
            <a:solidFill>
              <a:srgbClr val="DFE4EE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309360" y="1783080"/>
            <a:ext cx="242316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Ethics approval (institute ethics committee)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Supervised trials: sighted blindfolded first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blind volunteers with an O&amp;M instructor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8887968" y="1298448"/>
            <a:ext cx="146304" cy="914"/>
          </a:xfrm>
          <a:prstGeom prst="line">
            <a:avLst/>
          </a:prstGeom>
          <a:noFill/>
          <a:ln w="22225">
            <a:solidFill>
              <a:srgbClr val="5B6BA8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9052560" y="1051560"/>
            <a:ext cx="2697480" cy="502920"/>
          </a:xfrm>
          <a:prstGeom prst="roundRect">
            <a:avLst>
              <a:gd name="adj" fmla="val 10909"/>
            </a:avLst>
          </a:prstGeom>
          <a:solidFill>
            <a:srgbClr val="5B6BA8"/>
          </a:solidFill>
          <a:ln w="9525">
            <a:solidFill>
              <a:srgbClr val="5B6BA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9098280" y="1051560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Feb 2027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9052560" y="1691640"/>
            <a:ext cx="2697480" cy="2743200"/>
          </a:xfrm>
          <a:prstGeom prst="roundRect">
            <a:avLst>
              <a:gd name="adj" fmla="val 2034"/>
            </a:avLst>
          </a:prstGeom>
          <a:solidFill>
            <a:srgbClr val="F3F5FA"/>
          </a:solidFill>
          <a:ln w="9525">
            <a:solidFill>
              <a:srgbClr val="DFE4EE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189720" y="1783080"/>
            <a:ext cx="242316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top issues from trials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Re-run all Stage 2 tests on hardware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Field-test-ready unit for Stage 3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411480" y="4572000"/>
            <a:ext cx="11365992" cy="1051560"/>
          </a:xfrm>
          <a:prstGeom prst="roundRect">
            <a:avLst>
              <a:gd name="adj" fmla="val 5217"/>
            </a:avLst>
          </a:prstGeom>
          <a:solidFill>
            <a:srgbClr val="EEF6E4"/>
          </a:solidFill>
          <a:ln w="9525">
            <a:solidFill>
              <a:srgbClr val="C9E3A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48640" y="466344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3 commitment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wearable, battery-powered VisionAid prototype ready for supervised functional field testing, with every Stage 2 target (range, alert latency, drop-off distance, runtime, mass) measured on hardware.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411480" y="5760720"/>
            <a:ext cx="11365992" cy="420624"/>
          </a:xfrm>
          <a:prstGeom prst="roundRect">
            <a:avLst>
              <a:gd name="adj" fmla="val 10870"/>
            </a:avLst>
          </a:prstGeom>
          <a:solidFill>
            <a:srgbClr val="EEF6E4"/>
          </a:solidFill>
          <a:ln w="9525">
            <a:solidFill>
              <a:srgbClr val="C9E3A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48640" y="5760720"/>
            <a:ext cx="11109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6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extension: </a:t>
            </a:r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RISC-V soft core (PicoRV32) on the Tang Nano + a tiny spiking neural network to classify sensor patterns (stairs / wall / person) at very low power - once real sensor data exists.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3200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B7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2" type="title" hasCustomPrompt="1"/>
          </p:nvPr>
        </p:nvSpPr>
        <p:spPr>
          <a:xfrm>
            <a:off x="411480" y="256032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Challenges &amp; Risks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11480" y="1051560"/>
            <a:ext cx="3657600" cy="2148840"/>
          </a:xfrm>
          <a:prstGeom prst="roundRect">
            <a:avLst>
              <a:gd name="adj" fmla="val 2553"/>
            </a:avLst>
          </a:prstGeom>
          <a:solidFill>
            <a:srgbClr val="F3F5FA"/>
          </a:solidFill>
          <a:ln w="9525">
            <a:solidFill>
              <a:srgbClr val="DFE4EE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143000"/>
            <a:ext cx="338328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Ultrasonic crosstalk vs update rate</a:t>
            </a:r>
            <a:endParaRPr lang="en-US" sz="16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sensors firing together hear each other. Sequencing fixes it but limits each direction to one ping per 99 ms (simulated).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251960" y="1051560"/>
            <a:ext cx="3657600" cy="2148840"/>
          </a:xfrm>
          <a:prstGeom prst="roundRect">
            <a:avLst>
              <a:gd name="adj" fmla="val 2553"/>
            </a:avLst>
          </a:prstGeom>
          <a:solidFill>
            <a:srgbClr val="F3F5FA"/>
          </a:solidFill>
          <a:ln w="9525">
            <a:solidFill>
              <a:srgbClr val="DFE4E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389120" y="1143000"/>
            <a:ext cx="338328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Enclosure clash found in CAD</a:t>
            </a:r>
            <a:endParaRPr lang="en-US" sz="16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the Tang Nano 3D model added, the module clashed with the lid by 182 mm³ - 171 mm³ of it the HDMI connector (CAD interference check).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8092440" y="1051560"/>
            <a:ext cx="3657600" cy="2148840"/>
          </a:xfrm>
          <a:prstGeom prst="roundRect">
            <a:avLst>
              <a:gd name="adj" fmla="val 2553"/>
            </a:avLst>
          </a:prstGeom>
          <a:solidFill>
            <a:srgbClr val="F3F5FA"/>
          </a:solidFill>
          <a:ln w="9525">
            <a:solidFill>
              <a:srgbClr val="DFE4E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0" y="1143000"/>
            <a:ext cx="338328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over target</a:t>
            </a:r>
            <a:endParaRPr lang="en-US" sz="16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Enclosure plastic alone ≈ 156 g if solid (CAD volume); with Pi 5 and sensors the pod likely exceeds 250 g.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11480" y="3383280"/>
            <a:ext cx="3657600" cy="2148840"/>
          </a:xfrm>
          <a:prstGeom prst="roundRect">
            <a:avLst>
              <a:gd name="adj" fmla="val 2553"/>
            </a:avLst>
          </a:prstGeom>
          <a:solidFill>
            <a:srgbClr val="F3F5FA"/>
          </a:solidFill>
          <a:ln w="9525">
            <a:solidFill>
              <a:srgbClr val="DFE4E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3474720"/>
            <a:ext cx="338328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 over the grant</a:t>
            </a:r>
            <a:endParaRPr lang="en-US" sz="16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9 Oct quotes the BOM is ₹33,945 - ₹3,945 over the ₹30k grant; Pi 5, Tang Nano and TF-Luna were out of stock.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251960" y="3383280"/>
            <a:ext cx="3657600" cy="2148840"/>
          </a:xfrm>
          <a:prstGeom prst="roundRect">
            <a:avLst>
              <a:gd name="adj" fmla="val 2553"/>
            </a:avLst>
          </a:prstGeom>
          <a:solidFill>
            <a:srgbClr val="F3F5FA"/>
          </a:solidFill>
          <a:ln w="9525">
            <a:solidFill>
              <a:srgbClr val="DFE4E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389120" y="3474720"/>
            <a:ext cx="338328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Battery vs always-on AI</a:t>
            </a:r>
            <a:endParaRPr lang="en-US" sz="16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the AI always running, the calculated runtime is 3.1 h - below the 4 h target (cited Pi 5 power).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8092440" y="3383280"/>
            <a:ext cx="3657600" cy="2148840"/>
          </a:xfrm>
          <a:prstGeom prst="roundRect">
            <a:avLst>
              <a:gd name="adj" fmla="val 2553"/>
            </a:avLst>
          </a:prstGeom>
          <a:solidFill>
            <a:srgbClr val="F3F5FA"/>
          </a:solidFill>
          <a:ln w="9525">
            <a:solidFill>
              <a:srgbClr val="DFE4EE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229600" y="3474720"/>
            <a:ext cx="338328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Sway false alarms + coverage gap</a:t>
            </a:r>
            <a:endParaRPr lang="en-US" sz="16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Simulation: 25 false drop-off alarms in 20 s with a fixed floor baseline; waist-height gap under 1 m ahead.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411480" y="5806440"/>
            <a:ext cx="11365992" cy="420624"/>
          </a:xfrm>
          <a:prstGeom prst="roundRect">
            <a:avLst>
              <a:gd name="adj" fmla="val 10870"/>
            </a:avLst>
          </a:prstGeom>
          <a:solidFill>
            <a:srgbClr val="EEF6E4"/>
          </a:solidFill>
          <a:ln w="9525">
            <a:solidFill>
              <a:srgbClr val="C9E3A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5806440"/>
            <a:ext cx="11109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6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of each risk: </a:t>
            </a:r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own design files - CAD interference report, FEA study, BOM workbook, FPGA simulation - not assumptions copied from elsewhere.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3200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B7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2" type="title" hasCustomPrompt="1"/>
          </p:nvPr>
        </p:nvSpPr>
        <p:spPr>
          <a:xfrm>
            <a:off x="411480" y="256032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Potential Solutions &amp; Risk Mitigation</a:t>
            </a:r>
            <a:endParaRPr lang="en-US" sz="28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051560"/>
          <a:ext cx="786384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5852160"/>
              </a:tblGrid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Risk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32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Mitigation / backup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325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Crosstalk vs rate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Keep sequencing; Stage 3 option: coded pings to fire in parallel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Enclosure clash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Done: shell depth 44 → 48 mm (one parameter); interference now 0 mm³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Weight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v2: 2.0 mm walls + 20 % infill, merge housings, Pi Compute Module later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Budget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 5 must be ≤ ₹10,555 to fit; re-quote at order time, else team funds cover the gap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Battery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Done in code: event-triggered AI → 4.3 h (calc., ~50 % AI duty assumed); measure on hardware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Sway / gap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Done: IMU floor baseline (0 false alarms, sim.); gap: forward sensors −10° in CAD v2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Mount corners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Done: 1.5 mm root fillets (FEA v2 converged, FoS ≥ 8.7)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 failure / heat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FPGA watchdog + independent alert path (simulated); cooler + vents, thermal test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</a:tr>
            </a:tbl>
          </a:graphicData>
        </a:graphic>
      </p:graphicFrame>
      <p:pic>
        <p:nvPicPr>
          <p:cNvPr id="4" name="Image 0" descr="/home/aman/Desktop/viswakarma/biothon/visiion aid/submission/ppt/assets/pcb_3d_t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86115" y="1051560"/>
            <a:ext cx="3263442" cy="237744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8458200" y="3429000"/>
            <a:ext cx="33192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Carrier PCB with the Tang Nano 9K model (KiCad)</a:t>
            </a:r>
            <a:endParaRPr lang="en-US" sz="1000" dirty="0"/>
          </a:p>
        </p:txBody>
      </p:sp>
      <p:pic>
        <p:nvPicPr>
          <p:cNvPr id="6" name="Image 1" descr="/home/aman/Desktop/viswakarma/biothon/visiion aid/submission/ppt/assets/pod_xray_is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27853" y="3703320"/>
            <a:ext cx="1979965" cy="196596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411480" y="5806440"/>
            <a:ext cx="11365992" cy="420624"/>
          </a:xfrm>
          <a:prstGeom prst="roundRect">
            <a:avLst>
              <a:gd name="adj" fmla="val 10870"/>
            </a:avLst>
          </a:prstGeom>
          <a:solidFill>
            <a:srgbClr val="EEF6E4"/>
          </a:solidFill>
          <a:ln w="9525">
            <a:solidFill>
              <a:srgbClr val="C9E3A8"/>
            </a:solidFill>
            <a:prstDash val="solid"/>
          </a:ln>
        </p:spPr>
      </p:sp>
      <p:sp>
        <p:nvSpPr>
          <p:cNvPr id="8" name="Text 3"/>
          <p:cNvSpPr txBox="1"/>
          <p:nvPr/>
        </p:nvSpPr>
        <p:spPr>
          <a:xfrm>
            <a:off x="548640" y="5806440"/>
            <a:ext cx="11109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6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Status: </a:t>
            </a:r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"Done" items are already in the design files; the rest are planned and will be verified on hardware in Stage 3.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3200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B7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2" type="title" hasCustomPrompt="1"/>
          </p:nvPr>
        </p:nvSpPr>
        <p:spPr>
          <a:xfrm>
            <a:off x="411480" y="256032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 &amp; Sources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11480" y="1005840"/>
            <a:ext cx="6400800" cy="4617720"/>
          </a:xfrm>
          <a:prstGeom prst="roundRect">
            <a:avLst>
              <a:gd name="adj" fmla="val 1188"/>
            </a:avLst>
          </a:prstGeom>
          <a:solidFill>
            <a:srgbClr val="F3F5FA"/>
          </a:solidFill>
          <a:ln w="9525">
            <a:solidFill>
              <a:srgbClr val="DFE4EE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097280"/>
            <a:ext cx="6126480" cy="443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Bourne R. et al., Trends in prevalence of blindness and vision impairment, Lancet Global Health 9(2):e130-e143, 2021.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Blindness &amp; Visual Impairment Survey India 2015-19, AIIMS / MoHFW (indiavisionatlasnpcb.aiims.edu).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Manduchi R., Kurniawan S., Mobility-related accidents experienced by people with visual impairment, Insight 4(2), 2011 (tech. report UCSC-SOE-10-24; 307 respondents).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SmartCane - IIT Delhi / Assistech: ₹3,500 (Snapdeal launch, 2016; entrepreneur.com, electronicsforu.com).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OrCam MyEye 3 Pro US$4,250 (nelowvision.com); Envision Glasses US$1,899 / 3,499 (shop.letsenvision.com) - checked 9 Oct 2026.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Sipeed Tang Nano 9K wiki and pin map; Benewake TF-Luna datasheet; Raspberry Pi 5 / Camera Module 3 product briefs.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Raspberry Pi 5 power (≈ 3.0 W idle, ≈ 8.8 W full load): raspberry.tips power comparison, 2026. Part prices: kspelectronics.in, electronifyindia.com, probots.co.in, thingbits.in (9 Oct 2026).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COCO val2017 (cocodataset.org); YOLOv5n (Ultralytics); RapidOCR / PP-OCR; Piper TTS (rhasspy).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Tools: KiCad 9, FreeCAD + CalculiX + Gmsh, Icarus Verilog, GTKWave, Yosys, nextpnr + Apicula, Vivado 2026.1, FreeRouting.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995160" y="1005840"/>
            <a:ext cx="4782312" cy="4617720"/>
          </a:xfrm>
          <a:prstGeom prst="roundRect">
            <a:avLst>
              <a:gd name="adj" fmla="val 1188"/>
            </a:avLst>
          </a:prstGeom>
          <a:solidFill>
            <a:srgbClr val="F3F5FA"/>
          </a:solidFill>
          <a:ln w="9525">
            <a:solidFill>
              <a:srgbClr val="DFE4E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0" y="1097280"/>
            <a:ext cx="4507992" cy="443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 sources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diagrams, renders, plots and screenshots in this deck are our own, generated from the project files in github.com/silentaf/viswa_id1: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 renders - design/cad (FreeCAD model)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PCB / schematic - design/electronics (KiCad)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 plots - design/cad/outputs/fea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Waveforms - design/fpga (testbench); AI / analysis charts - design/pi, design/analysis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Screenshots - docs/screenshots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Logos: Vishwakarma Awards / Maker Bhavan Foundation (official template).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3200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B7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Team SVNIT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VisionAid - Stage 2 Design Specification</dc:title>
  <dc:subject>PptxGenJS Presentation</dc:subject>
  <dc:creator>Team SVNIT</dc:creator>
  <cp:lastModifiedBy>Team SVNIT</cp:lastModifiedBy>
  <cp:revision>1</cp:revision>
  <dcterms:created xsi:type="dcterms:W3CDTF">2026-10-09T10:24:05Z</dcterms:created>
  <dcterms:modified xsi:type="dcterms:W3CDTF">2026-10-09T10:24:05Z</dcterms:modified>
</cp:coreProperties>
</file>