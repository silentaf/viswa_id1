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6355080"/>
            <a:ext cx="1298448" cy="402336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6336792"/>
            <a:ext cx="896112" cy="40233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man/Desktop/viswakarma/biothon/visiion aid/submission/ppt/assets/logo_vishwaka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20040"/>
            <a:ext cx="2103120" cy="649224"/>
          </a:xfrm>
          <a:prstGeom prst="rect">
            <a:avLst/>
          </a:prstGeom>
        </p:spPr>
      </p:pic>
      <p:pic>
        <p:nvPicPr>
          <p:cNvPr id="3" name="Image 1" descr="/home/aman/Desktop/viswakarma/biothon/visiion aid/submission/ppt/assets/logo_makerbha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20040"/>
            <a:ext cx="137160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AWARDS 2026-27  ·  STAGE 2 DESIGN SPECIFICATION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37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Vishwakarma Application ID: [add before submission]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VisionAid</a:t>
            </a:r>
            <a:endParaRPr lang="en-US" sz="5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154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chest-worn, fully offline navigation aid that adds head-level-obstacle and drop-off warnings to the white cane - with an FPGA "safety island" whose alerts keep working even if the AI computer fails.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before submission]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 Solutions &amp; Inclusive Living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SVNIT: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Jayant Kumawat (lead), Sneha Ahir, Aman Gupta - SVNIT Surat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institute: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Indore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files: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</a:t>
            </a:r>
            <a:endParaRPr lang="en-US" sz="1400" dirty="0"/>
          </a:p>
        </p:txBody>
      </p:sp>
      <p:pic>
        <p:nvPicPr>
          <p:cNvPr id="9" name="Image 2" descr="/home/aman/Desktop/viswakarma/biothon/visiion aid/submission/ppt/assets/pod_assembled_i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4873" y="1371600"/>
            <a:ext cx="3795534" cy="4663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589520" y="6126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v1 of the chest pod (FreeCAD) - design stage, not yet fabricated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43.3 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blind worldwide (2020)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295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/ severe vision impairment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Bourne et al., Lancet GH 2021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1051560"/>
            <a:ext cx="2697480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12471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1.99 %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6733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blindness among Indians aged 50+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93852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NBVIS India 2015-19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052560" y="1051560"/>
            <a:ext cx="2724912" cy="1143000"/>
          </a:xfrm>
          <a:prstGeom prst="roundRect">
            <a:avLst>
              <a:gd name="adj" fmla="val 48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52560" y="1124712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₹3,500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167335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closest Indian aid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385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Cited: IIT Delhi / Assistech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2377440"/>
            <a:ext cx="5577840" cy="3246120"/>
          </a:xfrm>
          <a:prstGeom prst="roundRect">
            <a:avLst>
              <a:gd name="adj" fmla="val 169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68880"/>
            <a:ext cx="5303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cane only senses what it touches at ground level, about one cane-length ahead.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obstacles (signboards, truck tailgates, branches) and drop-offs (open drains, kerbs, steps) are the hazards it misses; head-level collisions and falls are the mobility accidents blind travellers report (cited: Manduchi &amp; Kurniawan, 2011, survey of 300+ people).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label or sign still needs a sighted helper or a hand-held phone.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beneficiary: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low-vision cane users who walk independently on Indian streets and campuses.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2377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search disclosure - what exists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61488"/>
          <a:ext cx="5605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79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(cited)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SmartCane (IIT Delhi)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₹3,500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Above-knee only; no drop-offs, no naming / 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OrCam MyEye 3 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US$3,700-4,490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aid, not mobility;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Envision Glasses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US$1,899-3,499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 / description;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apps (Lookout, MANI)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 a hand + pointed phone; no continuous warning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innovation: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+ drop-off warnings for the cane user, with an alert path bounded in hardware (FPGA) and an on-device AI layer that names hazards and reads text - fully offline.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Before (cane only)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cane sweeps the ground ~1 m ahead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Head-level obstacle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touched by the cane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B3261E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/ face injury risk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drain or step down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only when the cane drops in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read a label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a stranger / holds a phone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pain points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comes from contact: the cane reports an obstacle only when it touches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above the cane: overhanging objects are invisible to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Drop-offs are found by falling-in of the cane tip - the user is already at the edge.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identifying objects depend on another person.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inefficiency (calculated, not measured)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ground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m cane reach ÷ 1.2 m/s walking speed ≈ 0.8 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 for head-level obstacles: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 - the cane never touches them.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a drop-off: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far as the cane tip; no advance cue.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 / sign needs a helper; no independent reading.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m/s typical adult walking speed and ~1 m cane reach are design assumptions; Stage 3 user interviews and trials will replace them with measured values.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- After (cane + VisionAid)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with cane + 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scans 0.3-3 m, waist to head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87168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15768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61488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in 3 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classifies distance zone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91456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0056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65776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/ R vibration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0056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rate = distance; side = direction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95744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24344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70064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drops ahead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24344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drop-off alarm + buzzer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400032" y="1472184"/>
            <a:ext cx="210312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28632" y="1188720"/>
            <a:ext cx="2057400" cy="566928"/>
          </a:xfrm>
          <a:prstGeom prst="roundRect">
            <a:avLst>
              <a:gd name="adj" fmla="val 9677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11887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READ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28632" y="18013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reads text aloud (offline)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260604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697480"/>
            <a:ext cx="5303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user benefits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Warned before contact - including head-level obstacles the cane cannot reach.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motors on the chest straps say which side the hazard is on.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warning ahead of the edge, not at it.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stay free; speech through a bone-conduction headset keeps the ears open to traffic.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never depend on the AI computer (FPGA safety island).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606040"/>
            <a:ext cx="5605272" cy="3017520"/>
          </a:xfrm>
          <a:prstGeom prst="roundRect">
            <a:avLst>
              <a:gd name="adj" fmla="val 1818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09360" y="2697480"/>
            <a:ext cx="53309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efficiency (labels say where each number comes from)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time, 3 m range at 1.2 m/s: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 s (calculated, target range)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edge → motor 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136-214 ns (simulated; target ≤ 1 ms)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per direction: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ms (by design, simulated)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Drop-off alert after floor change: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ms (simulated); ≥ 1 m ahead (target)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Read-aloud: 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3 s per short label (target, Stage 3 test)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has been built yet - simulated values come from our Verilog testbench (design/fpga); targets are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- Block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RCWL-1601 ultrasonic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(left, right, head-level)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574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574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LiDAR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(floor, −35°)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buttons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/ MODE / QUIET)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1143000"/>
            <a:ext cx="3108960" cy="2560320"/>
          </a:xfrm>
          <a:prstGeom prst="roundRect">
            <a:avLst>
              <a:gd name="adj" fmla="val 2143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1430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(27 MHz)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timing · distance zones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drop-off · PWM patterns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watchdog · fault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07208" y="1508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07208" y="24231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07208" y="33375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635240" y="1325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0" y="1325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/ right coin motors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(chest straps, wired)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84848" y="170992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635240" y="251460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0" y="25146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Buzzer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("check device", drop-off)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898648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657600" y="4343400"/>
            <a:ext cx="3108960" cy="1188720"/>
          </a:xfrm>
          <a:prstGeom prst="roundRect">
            <a:avLst>
              <a:gd name="adj" fmla="val 4615"/>
            </a:avLst>
          </a:prstGeom>
          <a:solidFill>
            <a:srgbClr val="36456F"/>
          </a:solidFill>
          <a:ln w="9525">
            <a:solidFill>
              <a:srgbClr val="3645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03320" y="43434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PATH - Raspberry Pi 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YOLO-nano object names · 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 (EN / 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Module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(autofocus)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0720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635240" y="452628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3F6E12"/>
          </a:solidFill>
          <a:ln w="9525">
            <a:solidFill>
              <a:srgbClr val="3F6E1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4526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bone-conduction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headset (speech)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784848" y="4937760"/>
            <a:ext cx="8321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9834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5440680" y="3721608"/>
            <a:ext cx="914" cy="60350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5321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115200 status / 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heartbeat + fault line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41280" y="1143000"/>
            <a:ext cx="1536192" cy="4389120"/>
          </a:xfrm>
          <a:prstGeom prst="roundRect">
            <a:avLst>
              <a:gd name="adj" fmla="val 3571"/>
            </a:avLst>
          </a:prstGeom>
          <a:solidFill>
            <a:srgbClr val="E8ECF4"/>
          </a:solidFill>
          <a:ln w="9525">
            <a:solidFill>
              <a:srgbClr val="E8EC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287000" y="1143000"/>
            <a:ext cx="144475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BIS-certified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power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500 mA PTC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carrier 5 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AMS1117 3.3 V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FPGA drives the motors itself; the Pi can only add information and tune thresholds within clamped limits (it cannot switch alerts off). If the Pi's heartbeat stops, alerts continue and an "AI offline" chirp sounds.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Specifications &amp; Hardware Selection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3291840"/>
                <a:gridCol w="3959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so far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Selected hardware /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Obstacle range (waist-head)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0.3-3.0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class; housings +25° / ±15° (CAD)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RCWL-1601, 3.3 V, sequenced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latency (echo → motor)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136-214 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Nano 9K GW1NR-9 FPGA, 27 MHz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period / direction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ms by design (simulated)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33 ms slots (no crosstalk)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±5 cm to 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1500 → 1499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µs echo timer (0.17 mm/count)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Drop-off 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1.0 m ahead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alert 22 ms after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TF-Luna, UART 115200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name / OCR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s / ≤ 3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measurement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Camera Module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fails → alert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unaffected, cue ≤ 1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Simulated: AI-offline at 666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heartbeat watchdog (GPIO17)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Calculated 7.3 W → 4.3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bank, USB-C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250 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Estimate: likely over (plastic ≈156 g solid)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2.5 mm wall; lightening in v2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44068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44068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rationale: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instead of the Stage 1 PYNQ-Z2 (its Cortex-A9 cores are too slow for detection + OCR, and it does not fit the ₹30k grant); FPGA kept for the parallel, cycle-exact, fault-isolated alert path; wired haptics so no radio sits in the safety path.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Design &amp; Mechanical Specs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· PARAMETRIC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pod_exploded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31346"/>
            <a:ext cx="4754880" cy="40637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1206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Exploded: shell | Pi 5 | 20 mm standoffs | carrier PCB + Tang Nano | lid + housings | sensors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back_mou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0409" y="1005840"/>
            <a:ext cx="1897942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303520" y="320040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Back: GoPro-style mount, vents</a:t>
            </a:r>
            <a:endParaRPr lang="en-US" sz="1000" dirty="0"/>
          </a:p>
        </p:txBody>
      </p:sp>
      <p:pic>
        <p:nvPicPr>
          <p:cNvPr id="8" name="Image 2" descr="/home/aman/Desktop/viswakarma/biothon/visiion aid/submission/ppt/assets/pod_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871" y="3520440"/>
            <a:ext cx="1269017" cy="16002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303520" y="51206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sensor housings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7818120" y="1005840"/>
            <a:ext cx="3959352" cy="4370832"/>
          </a:xfrm>
          <a:prstGeom prst="roundRect">
            <a:avLst>
              <a:gd name="adj" fmla="val 138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955280" y="1097280"/>
            <a:ext cx="3685032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specification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× 84 × 48 mm shell + front housings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19-parameter spreadsheet drives sketches, pads, fillets, shell (fully constrained)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Housings: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sensor +25°, side sensors ±15° yaw, LiDAR −35°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GoPro-style 2-finger (3 mm, M5) on a chest harness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+ top/bottom vents for the Pi 5 active cooler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Interference check: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mm³ vs Pi, carrier, Tang Nano, sensors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411480" y="55778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8640" y="55778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iteration: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the real Tang Nano 3D model showed a 182 mm³ clash with the lid (HDMI connector) - shell depth raised 44 → 48 mm in one parameter; clash now 0 mm³.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Selection &amp; FEA (chest mount)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fea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80166"/>
            <a:ext cx="6949440" cy="2565947"/>
          </a:xfrm>
          <a:prstGeom prst="rect">
            <a:avLst/>
          </a:prstGeom>
        </p:spPr>
      </p:pic>
      <p:pic>
        <p:nvPicPr>
          <p:cNvPr id="5" name="Image 1" descr="/home/aman/Desktop/viswakarma/biothon/visiion aid/submission/ppt/assets/fea_contour_v1_sharp_side20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97" y="3611880"/>
            <a:ext cx="2533247" cy="2103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sharp roots - 20 N side</a:t>
            </a:r>
            <a:endParaRPr lang="en-US" sz="1000" dirty="0"/>
          </a:p>
        </p:txBody>
      </p:sp>
      <p:pic>
        <p:nvPicPr>
          <p:cNvPr id="7" name="Image 2" descr="/home/aman/Desktop/viswakarma/biothon/visiion aid/submission/ppt/assets/fea_contour_v2_fillet1p5_side20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642" y="3611880"/>
            <a:ext cx="2633276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97764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1.5 mm fillets - 20 N side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800" y="960120"/>
          <a:ext cx="423367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25880"/>
                <a:gridCol w="208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Tg / softening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60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softens in a car / summer sun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80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- tough, easy to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°C, UV-stable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option outdoors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543800" y="2514600"/>
            <a:ext cx="4233672" cy="3154680"/>
          </a:xfrm>
          <a:prstGeom prst="roundRect">
            <a:avLst>
              <a:gd name="adj" fmla="val 1739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7680960" y="2606040"/>
            <a:ext cx="39593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FEM + Gmsh + CalculiX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N down (0.3 kg × ~17 g bump); B: 20 N sideways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PETG: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2.0 GPa, ν 0.38, yield ≈ 50 MPa; required FoS ≥ 3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FoS 8.7; max deflection 0.06 mm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stress kept rising with mesh refinement → sharp-corner singularity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mm root fillets → converged (&lt; 3 % change); now in the CAD</a:t>
            </a:r>
            <a:endParaRPr lang="en-US" sz="1500" dirty="0"/>
          </a:p>
        </p:txBody>
      </p:sp>
      <p:sp>
        <p:nvSpPr>
          <p:cNvPr id="12" name="Shape 6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isotropic model (printed parts are anisotropic); finest v2 mesh failed to solve, so v2 uses 3 mesh levels; a printed-mount pull test is planned for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- Schematic &amp; Carrier PCB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9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936" y="960120"/>
            <a:ext cx="6723648" cy="4754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55321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Carrier-board schematic (A3): power, Pi header, FPGA, sensors, haptics, buttons, test points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cb_3d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477" y="960120"/>
            <a:ext cx="3451718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315200" y="3566160"/>
            <a:ext cx="446227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452360" y="3657600"/>
            <a:ext cx="4187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distribution &amp; checks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bank → Pi 5 → header 5 V → 500 mA PTC → +5 V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AMS1117 → +3V3 (sensors, motors, IMU)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V → SS14 → Tang Nano (blocks USB back-feed)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 0 · DRC 0 · unrouted 0 · parity 0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× 56 mm, 2 layers, Pi 5 outline + mounting holes, 20 mm standoffs + 40-way ribbon; 3.3 V-bank FPGA pins only; MOSFET motor drivers with flyback diodes; Gerbers generated.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of Materials &amp; Sourcing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5895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411480"/>
                <a:gridCol w="224028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/ specification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· origin ·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(basis)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computer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4 GB + active cooler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KSP / Thingbits · imported, local stock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Sipeed Tang Nano 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imported, local stock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2,149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Camera Module 3 + cable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Thingbits · imported, local stock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3,450 (quote + 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Benewake TF-Luna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Probots · imported, local stock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 (quote)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+ IMU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RCWL-1601 × 4, MPU-6050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· local · 2-4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 motors × 2, BT bone-conduction headset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mAh BIS power bank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fab ×5 + SMD parts + connectors + ribbon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LionCircuits (domestic) · 5-7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PETG, standoffs, inserts, harness, buttons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 / Amazon.in · 2-5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A2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· 1-3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 (est.)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₹30,000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83880" y="1005840"/>
            <a:ext cx="3593592" cy="2331720"/>
          </a:xfrm>
          <a:prstGeom prst="roundRect">
            <a:avLst>
              <a:gd name="adj" fmla="val 2353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097280"/>
            <a:ext cx="331927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- honest status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highest Pi 5 quote the build is ₹687 over the grant.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₹5.5-7.5k distributor price it is ≈ ₹24-26k.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Pi 5 only ≤ ₹9,000, else Pi 4 4 GB.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183880" y="3474720"/>
            <a:ext cx="3593592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21040" y="3566160"/>
            <a:ext cx="3319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 (calculated)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+ camera + YOLO ≈ 6.25 W (assumption)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FPGA, LiDAR, sensors, motors, losses ≈ 1.1 W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≈ 7.3 W →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h on 37 Wh × 85 %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ordered in Stage 2 (design round). All parts are stocked by Indian distributors; PCB fab is domestic. Full itemised BOM: design/bom/VisionAid_BOM_Power.xlsx.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Safety Island - Verification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347472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EEF6E4"/>
          </a:solidFill>
          <a:ln w="9525">
            <a:solidFill>
              <a:srgbClr val="C9E3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00" dirty="0"/>
          </a:p>
        </p:txBody>
      </p:sp>
      <p:pic>
        <p:nvPicPr>
          <p:cNvPr id="4" name="Image 0" descr="/home/aman/Desktop/viswakarma/biothon/visiion aid/submission/ppt/assets/waveform_latency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43075"/>
            <a:ext cx="6858000" cy="314325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960120"/>
          <a:ext cx="4325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47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Testbench check (Icarus Verilog)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1500 / 2500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1499 / 2499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edge → motor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214 ns (5.8 cycles)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frames to 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OK, 0 bad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drop-off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22.3 ms after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heartbeat lost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AI-offline 666 ms; alerts kept working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unplugged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flag + FAULT_N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TESTS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452360" y="4206240"/>
            <a:ext cx="4325112" cy="1508760"/>
          </a:xfrm>
          <a:prstGeom prst="roundRect">
            <a:avLst>
              <a:gd name="adj" fmla="val 3636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589520" y="4297680"/>
            <a:ext cx="40507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(Yosys, pre-P&amp;R estimate)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2,255 LUT4 equiv. of 8,640 (≈ 26 %)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 flip-flops of 6,480 (≈ 9 %)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Gowin EDA on hardware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11480" y="585216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585216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fired one at a time (no crosstalk); distance = t × 0.1715 by shift-multiply; zones escalate instantly, release with 50 mm hysteresis; quiet mode can silence only the "info" level.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Maker Journey -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doing CAD / KiCad with SVNIT ID badge visible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3246120"/>
            <a:ext cx="2743200" cy="2103120"/>
          </a:xfrm>
          <a:prstGeom prst="roundRect">
            <a:avLst>
              <a:gd name="adj" fmla="val 2609"/>
            </a:avLst>
          </a:prstGeom>
          <a:solidFill>
            <a:srgbClr val="FBEDEC"/>
          </a:solidFill>
          <a:ln w="12700">
            <a:solidFill>
              <a:srgbClr val="B3261E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TO ADD: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with faculty guide / IIT Indore mentor</a:t>
            </a:r>
            <a:endParaRPr lang="en-US" sz="1300" dirty="0"/>
          </a:p>
        </p:txBody>
      </p:sp>
      <p:pic>
        <p:nvPicPr>
          <p:cNvPr id="7" name="Image 0" descr="/home/aman/Desktop/viswakarma/biothon/visiion aid/submission/ppt/assets/freecad_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005840"/>
            <a:ext cx="4114800" cy="2743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375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feature tree - FingerRootFillet R 1.5 mm</a:t>
            </a:r>
            <a:endParaRPr lang="en-US" sz="1000" dirty="0"/>
          </a:p>
        </p:txBody>
      </p:sp>
      <p:pic>
        <p:nvPicPr>
          <p:cNvPr id="9" name="Image 1" descr="/home/aman/Desktop/viswakarma/biothon/visiion aid/submission/ppt/assets/drc_erc_s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00344"/>
            <a:ext cx="4142232" cy="10111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635240" y="258775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KiCad DRC: 0 violations, 0 unconnected  ·  ERC: 0 errors, 0 warnings</a:t>
            </a:r>
            <a:endParaRPr lang="en-US" sz="1000" dirty="0"/>
          </a:p>
        </p:txBody>
      </p:sp>
      <p:pic>
        <p:nvPicPr>
          <p:cNvPr id="11" name="Image 2" descr="/home/aman/Desktop/viswakarma/biothon/visiion aid/submission/ppt/assets/gtkwave_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516" y="4069080"/>
            <a:ext cx="83820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37560" y="4983480"/>
            <a:ext cx="8439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GTKWave: echo falls → distance 749 mm → zone 3 → left motor ON (simulation)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635240" y="2880360"/>
            <a:ext cx="4142232" cy="1097280"/>
          </a:xfrm>
          <a:prstGeom prst="roundRect">
            <a:avLst>
              <a:gd name="adj" fmla="val 5000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772400" y="297180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repository (native files)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github.com/silentaf/viswa_id1 - .FCStd, .step, .kicad_sch/.kicad_pcb, .v, .xlsx, timestamped commits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2: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PYNQ-Z2 → Pi 5 + Tang Nano 9K; per-stage latency specs; LiDAR for drop-offs; FEA-driven fillet; CAD clash fix 44 → 48 mm (details on the next slide).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→ Stage 2 Engineering Iterations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931920"/>
                <a:gridCol w="4416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said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PYNQ-Z2 does everything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(AI) + Tang Nano 9K FPGA (safety island)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A9 cores too slow for detection + OCR; not in ₹30k; fault isolation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"&lt;10 ms" reflex, "&lt;100 ms" on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Per-stage specs: echo → motor ≤ 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Echo from 3 m alone takes ≈ 17.5 ms - "&lt;10 ms end-to-end" is impossible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ultrasonic for drop-offs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Downward TF-Luna LiDAR (−35°)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beam gives a clean floor-distance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Wristband with 2 motors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/ R motors on the chest straps, wired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motors on one wrist are hard to tell apart; no radio in safety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bone-conduction driver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bone-conduction headset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has no analog audio; speech is the information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"&lt; ₹5,500 BOM"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BOM ≈ ₹24-31k from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PYNQ-Z2 alone exceeded ₹5,500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"250M+", "₹4-6 lakh" competitors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2020 data; SmartCane disclosed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and honest public-search disclosure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pilot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3, after ethics approval + O&amp;M instructor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scope for a design 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Design-stage iterations: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v1 → v2 (1.5 mm root fillets); CAD shell 44 → 48 mm after the real-module interference check; 3D-model and pin checks against the official Tang Nano 9K pin map.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Hazard Mitigation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3840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fail-safe / 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Ultrasonic stuck / unplugged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obstacle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No-response detector (3 slots) → buzzer "check device" + FAULT_N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crash / hang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object names / OCR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FPGA watchdog → "AI offline" chirp; alert path unaffected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 headset drops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Haptics carry all safety alerts; distinct cue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tilt shifts LiDAR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/ missed drop-off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Stand-still floor calibration + IMU pitch 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overheats in pod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Throttling, slow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 in CAD; thermal test in 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short circuit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V rail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mA PTC fuse on the header supply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 fire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BIS-certified power bank only - no loose Li-ion cells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fatigue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ignores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hysteresis + quiet mode (silences "info"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75320" y="1005840"/>
            <a:ext cx="3502152" cy="4526280"/>
          </a:xfrm>
          <a:prstGeom prst="roundRect">
            <a:avLst>
              <a:gd name="adj" fmla="val 1567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097280"/>
            <a:ext cx="3227832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considered in the design (not certified)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62368-1 / IS 13252 -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equipment safety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62133-2 / IS 16046 -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Li-ion (via BIS power bank)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60529 -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IP54 target for the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10993-5/-10 -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skin-contact materials (harness)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9999 -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assistive-product classification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WPC / ETA - 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pre-certified radio modules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11480" y="571500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71500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cane stays the primary aid - VisionAid only adds warnings, and its alert path is independent of the AI computer.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- 4-Month Fabrication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parts + carrier PCB (LionCircuits)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+ sensor bring-up on the bench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Range, latency (logic analyser at TP4/TP5), power tests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12724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9184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assembly; Pi software integration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+ fit enclosure; thermal test in pod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India-class dataset (auto-rickshaw, cow, pothole, drain)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760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25325F"/>
          </a:solidFill>
          <a:ln w="9525">
            <a:solidFill>
              <a:srgbClr val="2532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2027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(SVNIT IEC)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trials: sighted blindfolded first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blind volunteers with an O&amp;M instructor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87968" y="1298448"/>
            <a:ext cx="146304" cy="914"/>
          </a:xfrm>
          <a:prstGeom prst="line">
            <a:avLst/>
          </a:prstGeom>
          <a:noFill/>
          <a:ln w="22225">
            <a:solidFill>
              <a:srgbClr val="5B6B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52560" y="1051560"/>
            <a:ext cx="2697480" cy="502920"/>
          </a:xfrm>
          <a:prstGeom prst="roundRect">
            <a:avLst>
              <a:gd name="adj" fmla="val 10909"/>
            </a:avLst>
          </a:prstGeom>
          <a:solidFill>
            <a:srgbClr val="5B6BA8"/>
          </a:solidFill>
          <a:ln w="9525">
            <a:solidFill>
              <a:srgbClr val="5B6B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98280" y="10515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2027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697480" cy="2743200"/>
          </a:xfrm>
          <a:prstGeom prst="roundRect">
            <a:avLst>
              <a:gd name="adj" fmla="val 2034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9720" y="178308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top issues from trials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all Stage 2 tests on hardware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Field-test-ready unit for Stage 3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11480" y="4572000"/>
            <a:ext cx="11365992" cy="1051560"/>
          </a:xfrm>
          <a:prstGeom prst="roundRect">
            <a:avLst>
              <a:gd name="adj" fmla="val 5217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663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commitment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wearable, battery-powered VisionAid prototype ready for supervised functional field testing, with every Stage 2 target (range, alert latency, drop-off distance, runtime, mass) measured on hardware.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576072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76072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weeks: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 (8 Nov 2026) and end-semester exams are planned as reduced-workload weeks.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Challenges &amp; Risks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crosstalk vs update rate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sensors firing together hear each other. Sequencing fixes it but limits each direction to one ping per 99 ms (simulated).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38912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clash found in CAD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real Tang Nano 3D model, the HDMI connector hit the lid by 182 mm³ (CAD interference check).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92440" y="105156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0" y="114300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over target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Enclosure plastic alone ≈ 156 g if solid (CAD volume); with Pi 5 and sensors the pod likely exceeds 250 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is tight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highest Pi 5 quote the BOM is ₹687 over the ₹30k grant.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heat in a closed pod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YOLO in a sealed box risks thermal throttling (to be measured in Stage 3).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3383280"/>
            <a:ext cx="3657600" cy="2148840"/>
          </a:xfrm>
          <a:prstGeom prst="roundRect">
            <a:avLst>
              <a:gd name="adj" fmla="val 2553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3474720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in sunlight / sharp mount corners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range drops in strong sunlight; FEA showed a stress singularity at sharp finger roots (v1).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each risk: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files - CAD interference report, FEA study, BOM workbook, FPGA simulation - not assumptions copied from elsewhere.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Solutions &amp; Risk Mitigation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Crosstalk vs 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sequencing; Stage 3 option: coded pings to fire in parallel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Enclosure clash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shell depth 44 → 48 mm (one parameter); interference now 0 mm³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v2: 2.0 mm walls + 20 % infill, merge housings, Pi Compute Module later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5 only ≤ ₹9,000, else Pi 4 4 GB (same design, lower AI frame rate)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heat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cooler + vents; measure temperature/throttle flags in the closed pod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 sunlight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Amplitude check in the FPGA rejects weak readings; ultrasonic fallback; outdoor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corners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Done: 1.5 mm root fillets (FEA v2 converged, FoS ≥ 8.7)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failure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in design: FPGA watchdog + independent alert path (simulated)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aman/Desktop/viswakarma/biothon/visiion aid/submission/ppt/assets/pcb_3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115" y="1051560"/>
            <a:ext cx="3263442" cy="2377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458200" y="3429000"/>
            <a:ext cx="3319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PCB with the Tang Nano 9K model (KiCad)</a:t>
            </a:r>
            <a:endParaRPr lang="en-US" sz="1000" dirty="0"/>
          </a:p>
        </p:txBody>
      </p:sp>
      <p:pic>
        <p:nvPicPr>
          <p:cNvPr id="6" name="Image 1" descr="/home/aman/Desktop/viswakarma/biothon/visiion aid/submission/ppt/assets/pod_xray_i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853" y="3703320"/>
            <a:ext cx="1979965" cy="196596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11480" y="5806440"/>
            <a:ext cx="11365992" cy="420624"/>
          </a:xfrm>
          <a:prstGeom prst="roundRect">
            <a:avLst>
              <a:gd name="adj" fmla="val 10870"/>
            </a:avLst>
          </a:prstGeom>
          <a:solidFill>
            <a:srgbClr val="EEF6E4"/>
          </a:solidFill>
          <a:ln w="9525">
            <a:solidFill>
              <a:srgbClr val="C9E3A8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5806440"/>
            <a:ext cx="11109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"Done" items are already in the design files; the rest are planned and will be verified on hardware in Stage 3.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411480" y="256032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Sources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6400800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61264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Bourne R. et al., Trends in prevalence of blindness and vision impairment, Lancet Global Health 9(2):e130-e143, 2021.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Blindness &amp; Visual Impairment Survey India 2015-19, AIIMS / MoHFW (indiavisionatlasnpcb.aiims.edu).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Manduchi R., Kurniawan S., Mobility-related accidents experienced by people with visual impairment, Insight 4(2), 2011.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SmartCane - IIT Delhi / Assistech product information (electronicsforu.com).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OrCam MyEye 3 Pro (orcam.com) and Envision Glasses (letsenvision.com) pricing, 2026.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Sipeed Tang Nano 9K wiki and pin map; Benewake TF-Luna datasheet; Raspberry Pi 5 / Camera Module 3 product briefs.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KiCad 9, FreeCAD + CalculiX + Gmsh, Icarus Verilog, GTKWave, Yosys, FreeRouting.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95160" y="1005840"/>
            <a:ext cx="4782312" cy="4617720"/>
          </a:xfrm>
          <a:prstGeom prst="roundRect">
            <a:avLst>
              <a:gd name="adj" fmla="val 1188"/>
            </a:avLst>
          </a:prstGeom>
          <a:solidFill>
            <a:srgbClr val="F3F5FA"/>
          </a:solidFill>
          <a:ln w="9525">
            <a:solidFill>
              <a:srgbClr val="DFE4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097280"/>
            <a:ext cx="450799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32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sources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diagrams, renders, plots and screenshots in this deck are our own, generated from the project files in github.com/silentaf/viswa_id1: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renders - design/cad (FreeCAD model)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PCB / schematic - design/electronics (KiCad)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 plots - design/cad/outputs/fea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- design/fpga (testbench)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docs/screenshots</a:t>
            </a:r>
            <a:endParaRPr lang="en-US" sz="15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Logos: Vishwakarma Awards / Maker Bhavan Foundation (official template).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3200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Team SVNIT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VisionAid - Stage 2 Design Specification</dc:title>
  <dc:subject>PptxGenJS Presentation</dc:subject>
  <dc:creator>Team SVNIT</dc:creator>
  <cp:lastModifiedBy>Team SVNIT</cp:lastModifiedBy>
  <cp:revision>1</cp:revision>
  <dcterms:created xsi:type="dcterms:W3CDTF">2026-10-08T14:33:00Z</dcterms:created>
  <dcterms:modified xsi:type="dcterms:W3CDTF">2026-10-08T14:33:00Z</dcterms:modified>
</cp:coreProperties>
</file>