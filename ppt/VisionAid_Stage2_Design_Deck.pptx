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aman/Desktop/viswakarma/biothon/visiion aid/submission/ppt/assets/logo_vishwakar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6355080"/>
            <a:ext cx="1298448" cy="402336"/>
          </a:xfrm>
          <a:prstGeom prst="rect">
            <a:avLst/>
          </a:prstGeom>
        </p:spPr>
      </p:pic>
      <p:pic>
        <p:nvPicPr>
          <p:cNvPr id="3" name="Image 1" descr="/home/aman/Desktop/viswakarma/biothon/visiion aid/submission/ppt/assets/logo_makerbhav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2528" y="6336792"/>
            <a:ext cx="896112" cy="402336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title" hasCustomPrompt="1"/>
          </p:nvPr>
        </p:nvSpPr>
        <p:spPr>
          <a:xfrm>
            <a:off x="411480" y="256032"/>
            <a:ext cx="96926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253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3200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3200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aman/Desktop/viswakarma/biothon/visiion aid/submission/ppt/assets/logo_vishwakar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20040"/>
            <a:ext cx="2103120" cy="649224"/>
          </a:xfrm>
          <a:prstGeom prst="rect">
            <a:avLst/>
          </a:prstGeom>
        </p:spPr>
      </p:pic>
      <p:pic>
        <p:nvPicPr>
          <p:cNvPr id="3" name="Image 1" descr="/home/aman/Desktop/viswakarma/biothon/visiion aid/submission/ppt/assets/logo_makerbhav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320040"/>
            <a:ext cx="1371600" cy="61264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132588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B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VISHWAKARMA AWARDS 2026-27  ·  STAGE 2 DESIGN SPECIFICATION</a:t>
            </a:r>
            <a:endParaRPr lang="en-US" sz="13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173736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3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Vishwakarma Application ID: VK26-IITI-HT-0261</a:t>
            </a:r>
            <a:endParaRPr lang="en-US" sz="16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224028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253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VisionAid</a:t>
            </a:r>
            <a:endParaRPr lang="en-US" sz="54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315468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chest-worn, fully offline navigation aid that adds head-level-obstacle and drop-off warnings to the white cane - with an FPGA "safety island" whose alerts keep working even if the AI computer fails.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4206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53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VK26-IITI-HT-0261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53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Assistive Solutions &amp; Inclusive Living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53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SVNIT: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Jayant Kumawat (lead), Sneha Ahir, Aman Gupta - SVNIT Surat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53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institute: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IIT Indore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53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files: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github.com/silentaf/viswa_id1</a:t>
            </a:r>
            <a:endParaRPr lang="en-US" sz="1400" dirty="0"/>
          </a:p>
        </p:txBody>
      </p:sp>
      <p:pic>
        <p:nvPicPr>
          <p:cNvPr id="9" name="Image 2" descr="/home/aman/Desktop/viswakarma/biothon/visiion aid/submission/ppt/assets/pod_assembled_is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125980"/>
            <a:ext cx="4206240" cy="315468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7589520" y="61264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 v1 of the chest pod (FreeCAD) - design stage, not yet fabricated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411480" y="256032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53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1051560"/>
            <a:ext cx="2697480" cy="1143000"/>
          </a:xfrm>
          <a:prstGeom prst="roundRect">
            <a:avLst>
              <a:gd name="adj" fmla="val 4800"/>
            </a:avLst>
          </a:prstGeom>
          <a:solidFill>
            <a:srgbClr val="F3F5FA"/>
          </a:solidFill>
          <a:ln w="9525">
            <a:solidFill>
              <a:srgbClr val="DFE4E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11480" y="1124712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53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43.3 M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67335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blind worldwide (2020)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938528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Cited: Bourne et al., Lancet GH 2021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91840" y="1051560"/>
            <a:ext cx="2697480" cy="1143000"/>
          </a:xfrm>
          <a:prstGeom prst="roundRect">
            <a:avLst>
              <a:gd name="adj" fmla="val 4800"/>
            </a:avLst>
          </a:prstGeom>
          <a:solidFill>
            <a:srgbClr val="F3F5FA"/>
          </a:solidFill>
          <a:ln w="9525">
            <a:solidFill>
              <a:srgbClr val="DFE4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91840" y="1124712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53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295 M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167335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/ severe vision impairment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1938528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Cited: Bourne et al., Lancet GH 2021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172200" y="1051560"/>
            <a:ext cx="2697480" cy="1143000"/>
          </a:xfrm>
          <a:prstGeom prst="roundRect">
            <a:avLst>
              <a:gd name="adj" fmla="val 4800"/>
            </a:avLst>
          </a:prstGeom>
          <a:solidFill>
            <a:srgbClr val="F3F5FA"/>
          </a:solidFill>
          <a:ln w="9525">
            <a:solidFill>
              <a:srgbClr val="DFE4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72200" y="1124712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53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1.99 %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167335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blindness among Indians aged 50+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1938528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Cited: NBVIS India 2015-19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052560" y="1051560"/>
            <a:ext cx="2724912" cy="1143000"/>
          </a:xfrm>
          <a:prstGeom prst="roundRect">
            <a:avLst>
              <a:gd name="adj" fmla="val 4800"/>
            </a:avLst>
          </a:prstGeom>
          <a:solidFill>
            <a:srgbClr val="F3F5FA"/>
          </a:solidFill>
          <a:ln w="9525">
            <a:solidFill>
              <a:srgbClr val="DFE4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052560" y="1124712"/>
            <a:ext cx="2724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53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₹3,500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0" y="1673352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SmartCane - closest Indian aid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0" y="1938528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Cited: IIT Delhi / Assistech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" y="2377440"/>
            <a:ext cx="5577840" cy="3246120"/>
          </a:xfrm>
          <a:prstGeom prst="roundRect">
            <a:avLst>
              <a:gd name="adj" fmla="val 1690"/>
            </a:avLst>
          </a:prstGeom>
          <a:solidFill>
            <a:srgbClr val="F3F5FA"/>
          </a:solidFill>
          <a:ln w="9525">
            <a:solidFill>
              <a:srgbClr val="DFE4E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2468880"/>
            <a:ext cx="53035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53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5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white cane only senses what it touches at ground level, about one cane-length ahead.</a:t>
            </a:r>
            <a:endParaRPr lang="en-US" sz="15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Head-level obstacles (branches, poles, signs, truck bodies) and drop-offs (open drains, kerbs, steps) are what it misses. In a survey of 307 blind / legally blind travellers, 13 % hit their head at least once a month and 7 % fell at least once a month; 23 % of head-level accidents needed medical care, and cane vs guide-dog users did not differ (cited: Manduchi &amp; Kurniawan, 2011; US-based sample).</a:t>
            </a:r>
            <a:endParaRPr lang="en-US" sz="15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 label or sign still needs a sighted helper or a hand-held phone.</a:t>
            </a:r>
            <a:endParaRPr lang="en-US" sz="15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beneficiary: </a:t>
            </a:r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and low-vision cane users who walk independently on Indian streets and campuses.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172200" y="237744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3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search disclosure - what exists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2761488"/>
          <a:ext cx="5605272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1234440"/>
                <a:gridCol w="267919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(cited)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SmartCane (IIT Delhi)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₹3,500 (2016)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Above-knee only; no drop-offs, no naming / reading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OrCam MyEye 3 Pro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US$4,250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Reading aid, not mobility; expensive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Envision Glasses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US$1,899-3,499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Reading / description; expensive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 apps (Lookout, MANI)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 a hand + pointed phone; no continuous warning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</a:tbl>
          </a:graphicData>
        </a:graphic>
      </p:graphicFrame>
      <p:sp>
        <p:nvSpPr>
          <p:cNvPr id="23" name="Shape 20"/>
          <p:cNvSpPr/>
          <p:nvPr/>
        </p:nvSpPr>
        <p:spPr>
          <a:xfrm>
            <a:off x="411480" y="5806440"/>
            <a:ext cx="11365992" cy="420624"/>
          </a:xfrm>
          <a:prstGeom prst="roundRect">
            <a:avLst>
              <a:gd name="adj" fmla="val 10870"/>
            </a:avLst>
          </a:prstGeom>
          <a:solidFill>
            <a:srgbClr val="EEF6E4"/>
          </a:solidFill>
          <a:ln w="9525">
            <a:solidFill>
              <a:srgbClr val="C9E3A8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48640" y="5806440"/>
            <a:ext cx="11109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6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innovation: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head-level + drop-off warnings for the cane user, with an alert path bounded in hardware (FPGA) and an on-device AI layer that names hazards and reads text - fully offline.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3200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411480" y="256032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53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Journey - Before (cane only)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1188720"/>
            <a:ext cx="2057400" cy="566928"/>
          </a:xfrm>
          <a:prstGeom prst="roundRect">
            <a:avLst>
              <a:gd name="adj" fmla="val 9677"/>
            </a:avLst>
          </a:prstGeom>
          <a:solidFill>
            <a:srgbClr val="25325F"/>
          </a:solidFill>
          <a:ln w="9525">
            <a:solidFill>
              <a:srgbClr val="2532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Walks with cane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1801368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cane sweeps the ground ~1 m ahead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487168" y="1472184"/>
            <a:ext cx="210312" cy="914"/>
          </a:xfrm>
          <a:prstGeom prst="line">
            <a:avLst/>
          </a:prstGeom>
          <a:noFill/>
          <a:ln w="22225">
            <a:solidFill>
              <a:srgbClr val="5B6BA8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715768" y="1188720"/>
            <a:ext cx="2057400" cy="566928"/>
          </a:xfrm>
          <a:prstGeom prst="roundRect">
            <a:avLst>
              <a:gd name="adj" fmla="val 9677"/>
            </a:avLst>
          </a:prstGeom>
          <a:solidFill>
            <a:srgbClr val="25325F"/>
          </a:solidFill>
          <a:ln w="9525">
            <a:solidFill>
              <a:srgbClr val="25325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61488" y="118872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Head-level obstacle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715768" y="1801368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touched by the cane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91456" y="1472184"/>
            <a:ext cx="210312" cy="914"/>
          </a:xfrm>
          <a:prstGeom prst="line">
            <a:avLst/>
          </a:prstGeom>
          <a:noFill/>
          <a:ln w="22225">
            <a:solidFill>
              <a:srgbClr val="5B6BA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020056" y="1188720"/>
            <a:ext cx="2057400" cy="566928"/>
          </a:xfrm>
          <a:prstGeom prst="roundRect">
            <a:avLst>
              <a:gd name="adj" fmla="val 9677"/>
            </a:avLst>
          </a:prstGeom>
          <a:solidFill>
            <a:srgbClr val="B3261E"/>
          </a:solidFill>
          <a:ln w="9525">
            <a:solidFill>
              <a:srgbClr val="B3261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65776" y="118872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020056" y="1801368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/ face injury risk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095744" y="1472184"/>
            <a:ext cx="210312" cy="914"/>
          </a:xfrm>
          <a:prstGeom prst="line">
            <a:avLst/>
          </a:prstGeom>
          <a:noFill/>
          <a:ln w="22225">
            <a:solidFill>
              <a:srgbClr val="5B6BA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324344" y="1188720"/>
            <a:ext cx="2057400" cy="566928"/>
          </a:xfrm>
          <a:prstGeom prst="roundRect">
            <a:avLst>
              <a:gd name="adj" fmla="val 9677"/>
            </a:avLst>
          </a:prstGeom>
          <a:solidFill>
            <a:srgbClr val="25325F"/>
          </a:solidFill>
          <a:ln w="9525">
            <a:solidFill>
              <a:srgbClr val="25325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70064" y="118872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drain or step down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324344" y="1801368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only when the cane drops in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400032" y="1472184"/>
            <a:ext cx="210312" cy="914"/>
          </a:xfrm>
          <a:prstGeom prst="line">
            <a:avLst/>
          </a:prstGeom>
          <a:noFill/>
          <a:ln w="22225">
            <a:solidFill>
              <a:srgbClr val="5B6BA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628632" y="1188720"/>
            <a:ext cx="2057400" cy="566928"/>
          </a:xfrm>
          <a:prstGeom prst="roundRect">
            <a:avLst>
              <a:gd name="adj" fmla="val 9677"/>
            </a:avLst>
          </a:prstGeom>
          <a:solidFill>
            <a:srgbClr val="25325F"/>
          </a:solidFill>
          <a:ln w="9525">
            <a:solidFill>
              <a:srgbClr val="25325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74352" y="118872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to read a label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9628632" y="1801368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a stranger / holds a phone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1480" y="2606040"/>
            <a:ext cx="5577840" cy="3017520"/>
          </a:xfrm>
          <a:prstGeom prst="roundRect">
            <a:avLst>
              <a:gd name="adj" fmla="val 1818"/>
            </a:avLst>
          </a:prstGeom>
          <a:solidFill>
            <a:srgbClr val="F3F5FA"/>
          </a:solidFill>
          <a:ln w="9525">
            <a:solidFill>
              <a:srgbClr val="DFE4E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8640" y="2697480"/>
            <a:ext cx="53035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53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pain points</a:t>
            </a:r>
            <a:endParaRPr lang="en-US" sz="15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comes from contact: the cane reports an obstacle only when it touches it.</a:t>
            </a:r>
            <a:endParaRPr lang="en-US" sz="15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above the cane: overhanging objects are invisible to it.</a:t>
            </a:r>
            <a:endParaRPr lang="en-US" sz="15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Drop-offs are found by falling-in of the cane tip - the user is already at the edge.</a:t>
            </a:r>
            <a:endParaRPr lang="en-US" sz="15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and identifying objects depend on another person.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172200" y="2606040"/>
            <a:ext cx="5605272" cy="3017520"/>
          </a:xfrm>
          <a:prstGeom prst="roundRect">
            <a:avLst>
              <a:gd name="adj" fmla="val 1818"/>
            </a:avLst>
          </a:prstGeom>
          <a:solidFill>
            <a:srgbClr val="EEF6E4"/>
          </a:solidFill>
          <a:ln w="9525">
            <a:solidFill>
              <a:srgbClr val="C9E3A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09360" y="2697480"/>
            <a:ext cx="5330952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53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Quantified inefficiency (calculated, not measured)</a:t>
            </a:r>
            <a:endParaRPr lang="en-US" sz="15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time for ground obstacles: </a:t>
            </a:r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 cane reach ÷ 1.2 m/s walking speed ≈ 0.8 s.</a:t>
            </a:r>
            <a:endParaRPr lang="en-US" sz="15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time for head-level obstacles: </a:t>
            </a:r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s - the cane never touches them.</a:t>
            </a:r>
            <a:endParaRPr lang="en-US" sz="15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before a drop-off: </a:t>
            </a:r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as far as the cane tip; no advance cue.</a:t>
            </a:r>
            <a:endParaRPr lang="en-US" sz="15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Text: </a:t>
            </a:r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label / sign needs a helper; no independent reading.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11480" y="5806440"/>
            <a:ext cx="11365992" cy="420624"/>
          </a:xfrm>
          <a:prstGeom prst="roundRect">
            <a:avLst>
              <a:gd name="adj" fmla="val 10870"/>
            </a:avLst>
          </a:prstGeom>
          <a:solidFill>
            <a:srgbClr val="EEF6E4"/>
          </a:solidFill>
          <a:ln w="9525">
            <a:solidFill>
              <a:srgbClr val="C9E3A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48640" y="5806440"/>
            <a:ext cx="11109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6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Assumptions: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m/s typical adult walking speed and ~1 m cane reach are design assumptions; Stage 3 user interviews and trials will replace them with measured values.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3200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411480" y="256032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53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Journey - After (cane + VisionAid)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1188720"/>
            <a:ext cx="2057400" cy="566928"/>
          </a:xfrm>
          <a:prstGeom prst="roundRect">
            <a:avLst>
              <a:gd name="adj" fmla="val 9677"/>
            </a:avLst>
          </a:prstGeom>
          <a:solidFill>
            <a:srgbClr val="25325F"/>
          </a:solidFill>
          <a:ln w="9525">
            <a:solidFill>
              <a:srgbClr val="2532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Walks with cane + pod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1801368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scans 0.3-3 m, waist to head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487168" y="1472184"/>
            <a:ext cx="210312" cy="914"/>
          </a:xfrm>
          <a:prstGeom prst="line">
            <a:avLst/>
          </a:prstGeom>
          <a:noFill/>
          <a:ln w="22225">
            <a:solidFill>
              <a:srgbClr val="5B6BA8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715768" y="1188720"/>
            <a:ext cx="2057400" cy="566928"/>
          </a:xfrm>
          <a:prstGeom prst="roundRect">
            <a:avLst>
              <a:gd name="adj" fmla="val 9677"/>
            </a:avLst>
          </a:prstGeom>
          <a:solidFill>
            <a:srgbClr val="25325F"/>
          </a:solidFill>
          <a:ln w="9525">
            <a:solidFill>
              <a:srgbClr val="25325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61488" y="118872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Obstacle in 3 m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715768" y="1801368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classifies distance zone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91456" y="1472184"/>
            <a:ext cx="210312" cy="914"/>
          </a:xfrm>
          <a:prstGeom prst="line">
            <a:avLst/>
          </a:prstGeom>
          <a:noFill/>
          <a:ln w="22225">
            <a:solidFill>
              <a:srgbClr val="5B6BA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020056" y="1188720"/>
            <a:ext cx="2057400" cy="566928"/>
          </a:xfrm>
          <a:prstGeom prst="roundRect">
            <a:avLst>
              <a:gd name="adj" fmla="val 9677"/>
            </a:avLst>
          </a:prstGeom>
          <a:solidFill>
            <a:srgbClr val="3F6E12"/>
          </a:solidFill>
          <a:ln w="9525">
            <a:solidFill>
              <a:srgbClr val="3F6E1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65776" y="118872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/ R vibration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020056" y="1801368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rate = distance; side = direction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095744" y="1472184"/>
            <a:ext cx="210312" cy="914"/>
          </a:xfrm>
          <a:prstGeom prst="line">
            <a:avLst/>
          </a:prstGeom>
          <a:noFill/>
          <a:ln w="22225">
            <a:solidFill>
              <a:srgbClr val="5B6BA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324344" y="1188720"/>
            <a:ext cx="2057400" cy="566928"/>
          </a:xfrm>
          <a:prstGeom prst="roundRect">
            <a:avLst>
              <a:gd name="adj" fmla="val 9677"/>
            </a:avLst>
          </a:prstGeom>
          <a:solidFill>
            <a:srgbClr val="25325F"/>
          </a:solidFill>
          <a:ln w="9525">
            <a:solidFill>
              <a:srgbClr val="25325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70064" y="118872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drops ahead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324344" y="1801368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LiDAR: drop-off alarm + buzzer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400032" y="1472184"/>
            <a:ext cx="210312" cy="914"/>
          </a:xfrm>
          <a:prstGeom prst="line">
            <a:avLst/>
          </a:prstGeom>
          <a:noFill/>
          <a:ln w="22225">
            <a:solidFill>
              <a:srgbClr val="5B6BA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628632" y="1188720"/>
            <a:ext cx="2057400" cy="566928"/>
          </a:xfrm>
          <a:prstGeom prst="roundRect">
            <a:avLst>
              <a:gd name="adj" fmla="val 9677"/>
            </a:avLst>
          </a:prstGeom>
          <a:solidFill>
            <a:srgbClr val="25325F"/>
          </a:solidFill>
          <a:ln w="9525">
            <a:solidFill>
              <a:srgbClr val="25325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74352" y="118872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Presses READ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9628632" y="1801368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reads text aloud (offline)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1480" y="2606040"/>
            <a:ext cx="5577840" cy="3017520"/>
          </a:xfrm>
          <a:prstGeom prst="roundRect">
            <a:avLst>
              <a:gd name="adj" fmla="val 1818"/>
            </a:avLst>
          </a:prstGeom>
          <a:solidFill>
            <a:srgbClr val="F3F5FA"/>
          </a:solidFill>
          <a:ln w="9525">
            <a:solidFill>
              <a:srgbClr val="DFE4E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8640" y="2697480"/>
            <a:ext cx="53035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53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user benefits</a:t>
            </a:r>
            <a:endParaRPr lang="en-US" sz="15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Warned before contact - including head-level obstacles the cane cannot reach.</a:t>
            </a:r>
            <a:endParaRPr lang="en-US" sz="15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/ right motors on the chest straps say which side the hazard is on.</a:t>
            </a:r>
            <a:endParaRPr lang="en-US" sz="15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Drop-off warning ahead of the edge, not at it.</a:t>
            </a:r>
            <a:endParaRPr lang="en-US" sz="15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 stay free; speech through a bone-conduction headset keeps the ears open to traffic.</a:t>
            </a:r>
            <a:endParaRPr lang="en-US" sz="15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never depend on the AI computer (FPGA safety island).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172200" y="2606040"/>
            <a:ext cx="5605272" cy="3017520"/>
          </a:xfrm>
          <a:prstGeom prst="roundRect">
            <a:avLst>
              <a:gd name="adj" fmla="val 1818"/>
            </a:avLst>
          </a:prstGeom>
          <a:solidFill>
            <a:srgbClr val="EEF6E4"/>
          </a:solidFill>
          <a:ln w="9525">
            <a:solidFill>
              <a:srgbClr val="C9E3A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09360" y="2697480"/>
            <a:ext cx="5330952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53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Quantified efficiency (labels say where each number comes from)</a:t>
            </a:r>
            <a:endParaRPr lang="en-US" sz="15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time, 3 m range at 1.2 m/s: </a:t>
            </a:r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2.5 s (calculated, target range)</a:t>
            </a:r>
            <a:endParaRPr lang="en-US" sz="15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 edge → motor on: </a:t>
            </a:r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214 ns over 4 events (simulated; target ≤ 1 ms)</a:t>
            </a:r>
            <a:endParaRPr lang="en-US" sz="15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per direction: </a:t>
            </a:r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 ms (by design, simulated)</a:t>
            </a:r>
            <a:endParaRPr lang="en-US" sz="15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Drop-off warned: </a:t>
            </a:r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1.86 m before the step (calculated from CAD angles); alert 22 ms after (simulated)</a:t>
            </a:r>
            <a:endParaRPr lang="en-US" sz="15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→ speech audio ready: </a:t>
            </a:r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211 ms (measured on laptop, not Pi 5; excludes capture + playback)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11480" y="5806440"/>
            <a:ext cx="11365992" cy="420624"/>
          </a:xfrm>
          <a:prstGeom prst="roundRect">
            <a:avLst>
              <a:gd name="adj" fmla="val 10870"/>
            </a:avLst>
          </a:prstGeom>
          <a:solidFill>
            <a:srgbClr val="EEF6E4"/>
          </a:solidFill>
          <a:ln w="9525">
            <a:solidFill>
              <a:srgbClr val="C9E3A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48640" y="5806440"/>
            <a:ext cx="11109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6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Honesty rule: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hardware built yet - simulated = our Verilog testbench; measured = our Pi software run on the dev laptop; Pi 5 and field numbers come in Stage 3.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3200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411480" y="256032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53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- Block Diagram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1143000"/>
            <a:ext cx="2377440" cy="731520"/>
          </a:xfrm>
          <a:prstGeom prst="roundRect">
            <a:avLst>
              <a:gd name="adj" fmla="val 7500"/>
            </a:avLst>
          </a:prstGeom>
          <a:solidFill>
            <a:srgbClr val="5B6BA8"/>
          </a:solidFill>
          <a:ln w="9525">
            <a:solidFill>
              <a:srgbClr val="5B6BA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430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× RCWL-1601 ultrasonic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(left, right, head-level)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2057400"/>
            <a:ext cx="2377440" cy="731520"/>
          </a:xfrm>
          <a:prstGeom prst="roundRect">
            <a:avLst>
              <a:gd name="adj" fmla="val 7500"/>
            </a:avLst>
          </a:prstGeom>
          <a:solidFill>
            <a:srgbClr val="5B6BA8"/>
          </a:solidFill>
          <a:ln w="9525">
            <a:solidFill>
              <a:srgbClr val="5B6BA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0574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TF-Luna LiDAR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(floor, −35°)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2971800"/>
            <a:ext cx="2377440" cy="731520"/>
          </a:xfrm>
          <a:prstGeom prst="roundRect">
            <a:avLst>
              <a:gd name="adj" fmla="val 7500"/>
            </a:avLst>
          </a:prstGeom>
          <a:solidFill>
            <a:srgbClr val="5B6BA8"/>
          </a:solidFill>
          <a:ln w="9525">
            <a:solidFill>
              <a:srgbClr val="5B6BA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9718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buttons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(READ / MODE / QUIET)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0" y="1143000"/>
            <a:ext cx="3108960" cy="2560320"/>
          </a:xfrm>
          <a:prstGeom prst="roundRect">
            <a:avLst>
              <a:gd name="adj" fmla="val 2143"/>
            </a:avLst>
          </a:prstGeom>
          <a:solidFill>
            <a:srgbClr val="25325F"/>
          </a:solidFill>
          <a:ln w="9525">
            <a:solidFill>
              <a:srgbClr val="25325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703320" y="1143000"/>
            <a:ext cx="30175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SAFETY ISLAND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Sipeed Tang Nano 9K (27 MHz)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 timing · distance zones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LiDAR drop-off · PWM patterns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watchdog · fault detection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807208" y="1508760"/>
            <a:ext cx="832104" cy="914"/>
          </a:xfrm>
          <a:prstGeom prst="line">
            <a:avLst/>
          </a:prstGeom>
          <a:noFill/>
          <a:ln w="22225">
            <a:solidFill>
              <a:srgbClr val="5B6BA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807208" y="2423160"/>
            <a:ext cx="832104" cy="914"/>
          </a:xfrm>
          <a:prstGeom prst="line">
            <a:avLst/>
          </a:prstGeom>
          <a:noFill/>
          <a:ln w="22225">
            <a:solidFill>
              <a:srgbClr val="5B6BA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807208" y="3337560"/>
            <a:ext cx="832104" cy="914"/>
          </a:xfrm>
          <a:prstGeom prst="line">
            <a:avLst/>
          </a:prstGeom>
          <a:noFill/>
          <a:ln w="22225">
            <a:solidFill>
              <a:srgbClr val="5B6BA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635240" y="1325880"/>
            <a:ext cx="2377440" cy="777240"/>
          </a:xfrm>
          <a:prstGeom prst="roundRect">
            <a:avLst>
              <a:gd name="adj" fmla="val 7059"/>
            </a:avLst>
          </a:prstGeom>
          <a:solidFill>
            <a:srgbClr val="3F6E12"/>
          </a:solidFill>
          <a:ln w="9525">
            <a:solidFill>
              <a:srgbClr val="3F6E1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680960" y="13258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/ right coin motors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(chest straps, wired)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84848" y="1709928"/>
            <a:ext cx="832104" cy="914"/>
          </a:xfrm>
          <a:prstGeom prst="line">
            <a:avLst/>
          </a:prstGeom>
          <a:noFill/>
          <a:ln w="22225">
            <a:solidFill>
              <a:srgbClr val="5B6BA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635240" y="2514600"/>
            <a:ext cx="2377440" cy="777240"/>
          </a:xfrm>
          <a:prstGeom prst="roundRect">
            <a:avLst>
              <a:gd name="adj" fmla="val 7059"/>
            </a:avLst>
          </a:prstGeom>
          <a:solidFill>
            <a:srgbClr val="3F6E12"/>
          </a:solidFill>
          <a:ln w="9525">
            <a:solidFill>
              <a:srgbClr val="3F6E1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680960" y="25146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("check device", drop-off)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84848" y="2898648"/>
            <a:ext cx="832104" cy="914"/>
          </a:xfrm>
          <a:prstGeom prst="line">
            <a:avLst/>
          </a:prstGeom>
          <a:noFill/>
          <a:ln w="22225">
            <a:solidFill>
              <a:srgbClr val="5B6BA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657600" y="4343400"/>
            <a:ext cx="3108960" cy="1188720"/>
          </a:xfrm>
          <a:prstGeom prst="roundRect">
            <a:avLst>
              <a:gd name="adj" fmla="val 4615"/>
            </a:avLst>
          </a:prstGeom>
          <a:solidFill>
            <a:srgbClr val="36456F"/>
          </a:solidFill>
          <a:ln w="9525">
            <a:solidFill>
              <a:srgbClr val="36456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703320" y="434340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PATH - Raspberry Pi 5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YOLO-nano object names · OCR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text-to-speech (EN / HI)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11480" y="4526280"/>
            <a:ext cx="2377440" cy="822960"/>
          </a:xfrm>
          <a:prstGeom prst="roundRect">
            <a:avLst>
              <a:gd name="adj" fmla="val 6667"/>
            </a:avLst>
          </a:prstGeom>
          <a:solidFill>
            <a:srgbClr val="5B6BA8"/>
          </a:solidFill>
          <a:ln w="9525">
            <a:solidFill>
              <a:srgbClr val="5B6BA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" y="45262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Module 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(autofocus)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807208" y="4937760"/>
            <a:ext cx="832104" cy="914"/>
          </a:xfrm>
          <a:prstGeom prst="line">
            <a:avLst/>
          </a:prstGeom>
          <a:noFill/>
          <a:ln w="22225">
            <a:solidFill>
              <a:srgbClr val="5B6BA8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635240" y="4526280"/>
            <a:ext cx="2377440" cy="822960"/>
          </a:xfrm>
          <a:prstGeom prst="roundRect">
            <a:avLst>
              <a:gd name="adj" fmla="val 6667"/>
            </a:avLst>
          </a:prstGeom>
          <a:solidFill>
            <a:srgbClr val="3F6E12"/>
          </a:solidFill>
          <a:ln w="9525">
            <a:solidFill>
              <a:srgbClr val="3F6E1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680960" y="45262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Bluetooth bone-conduction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headset (speech)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784848" y="4937760"/>
            <a:ext cx="832104" cy="914"/>
          </a:xfrm>
          <a:prstGeom prst="line">
            <a:avLst/>
          </a:prstGeom>
          <a:noFill/>
          <a:ln w="22225">
            <a:solidFill>
              <a:srgbClr val="5B6BA8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983480" y="3721608"/>
            <a:ext cx="914" cy="603504"/>
          </a:xfrm>
          <a:prstGeom prst="line">
            <a:avLst/>
          </a:prstGeom>
          <a:noFill/>
          <a:ln w="22225">
            <a:solidFill>
              <a:srgbClr val="5B6BA8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 flipV="1">
            <a:off x="5440680" y="3721608"/>
            <a:ext cx="914" cy="603504"/>
          </a:xfrm>
          <a:prstGeom prst="line">
            <a:avLst/>
          </a:prstGeom>
          <a:noFill/>
          <a:ln w="22225">
            <a:solidFill>
              <a:srgbClr val="5B6BA8"/>
            </a:solidFill>
            <a:prstDash val="solid"/>
            <a:tailEnd type="triangle"/>
          </a:ln>
        </p:spPr>
      </p:sp>
      <p:sp>
        <p:nvSpPr>
          <p:cNvPr id="30" name="Text 28"/>
          <p:cNvSpPr txBox="1"/>
          <p:nvPr/>
        </p:nvSpPr>
        <p:spPr>
          <a:xfrm>
            <a:off x="5532120" y="376732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 115200 status / config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heartbeat + fault line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0241280" y="1143000"/>
            <a:ext cx="1536192" cy="4389120"/>
          </a:xfrm>
          <a:prstGeom prst="roundRect">
            <a:avLst>
              <a:gd name="adj" fmla="val 3571"/>
            </a:avLst>
          </a:prstGeom>
          <a:solidFill>
            <a:srgbClr val="E8ECF4"/>
          </a:solidFill>
          <a:ln w="9525">
            <a:solidFill>
              <a:srgbClr val="E8ECF4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287000" y="1143000"/>
            <a:ext cx="144475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3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53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BIS-certified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53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USB-C power bank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53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Pi 5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53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500 mA PTC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53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carrier 5 V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53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AMS1117 3.3 V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11480" y="5760720"/>
            <a:ext cx="11365992" cy="420624"/>
          </a:xfrm>
          <a:prstGeom prst="roundRect">
            <a:avLst>
              <a:gd name="adj" fmla="val 10870"/>
            </a:avLst>
          </a:prstGeom>
          <a:solidFill>
            <a:srgbClr val="EEF6E4"/>
          </a:solidFill>
          <a:ln w="9525">
            <a:solidFill>
              <a:srgbClr val="C9E3A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48640" y="5760720"/>
            <a:ext cx="11109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6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rule: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FPGA drives the motors itself; the Pi can only add information and tune thresholds within clamped limits (it cannot switch alerts off). If the Pi's heartbeat stops, alerts continue and an "AI offline" chirp sounds.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3200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411480" y="256032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53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Specifications &amp; Hardware Selection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51560"/>
          <a:ext cx="11365992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1600200"/>
                <a:gridCol w="3291840"/>
                <a:gridCol w="3959352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so far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Selected hardware / protocol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5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Obstacle range (waist-head)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0.3-3.0 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 class; housings +25° / ±15° (CAD)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× RCWL-1601, 3.3 V, sequenced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 latency (echo → motor)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1 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Simulated: max 214 ns (4 events)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Tang Nano 9K GW1NR-9 FPGA, 27 MHz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 period / direction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100 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 ms by design (simulated)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× 33 ms slots (no crosstalk)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 resolution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±5 cm to 2 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Timer: 1500 mm in → 1500 mm out, exact (sensor error: Stage 3)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µs echo timer (0.17 mm/count)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Drop-off warning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1.0 m ahead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Calculated 1.86 m (−35° from 1.3 m); alert 22 ms (sim.)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Benewake TF-Luna + IMU tilt correction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 name / OCR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1 s / ≤ 3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Laptop: detect 28 ms, e2e 211 ms, OCR 1.2-1.4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Raspberry Pi 5 4 GB + Camera Module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 fails → alert path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unaffected, cue ≤ 1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Simulated: AI-offline at 666 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FPGA heartbeat watchdog (GPIO17)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4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Calc. (cited Pi 5 W): 4.3 h if AI busy ~50 % (assumed); 3.1 h if always 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10,000 mAh BIS power bank, USB-C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Pod mass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250 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Estimate: likely over (plastic ≈156 g solid)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PETG, 2.5 mm wall; lightening in v2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11480" y="5440680"/>
            <a:ext cx="11365992" cy="420624"/>
          </a:xfrm>
          <a:prstGeom prst="roundRect">
            <a:avLst>
              <a:gd name="adj" fmla="val 10870"/>
            </a:avLst>
          </a:prstGeom>
          <a:solidFill>
            <a:srgbClr val="EEF6E4"/>
          </a:solidFill>
          <a:ln w="9525">
            <a:solidFill>
              <a:srgbClr val="C9E3A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5440680"/>
            <a:ext cx="11109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6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rationale: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5 (4 × Cortex-A76, 2.4 GHz) instead of the Stage 1 PYNQ-Z2 (2 × Cortex-A9, 650 MHz) for detection + OCR; FPGA kept for the parallel, cycle-exact, fault-isolated alert path; wired haptics so no radio sits in the safety path.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3200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411480" y="256032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53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 Design &amp; Mechanical Specs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692640" y="347472"/>
            <a:ext cx="1600200" cy="274320"/>
          </a:xfrm>
          <a:prstGeom prst="roundRect">
            <a:avLst>
              <a:gd name="adj" fmla="val 26667"/>
            </a:avLst>
          </a:prstGeom>
          <a:solidFill>
            <a:srgbClr val="EEF6E4"/>
          </a:solidFill>
          <a:ln w="9525">
            <a:solidFill>
              <a:srgbClr val="C9E3A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F6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FREECAD · PARAMETRIC</a:t>
            </a:r>
            <a:endParaRPr lang="en-US" sz="900" dirty="0"/>
          </a:p>
        </p:txBody>
      </p:sp>
      <p:pic>
        <p:nvPicPr>
          <p:cNvPr id="4" name="Image 0" descr="/home/aman/Desktop/viswakarma/biothon/visiion aid/submission/ppt/assets/pod_exploded_is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534886"/>
            <a:ext cx="4754880" cy="305670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11480" y="512064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Exploded: shell | Pi 5 | 20 mm standoffs | carrier PCB + Tang Nano | lid + housings | sensors</a:t>
            </a:r>
            <a:endParaRPr lang="en-US" sz="1000" dirty="0"/>
          </a:p>
        </p:txBody>
      </p:sp>
      <p:pic>
        <p:nvPicPr>
          <p:cNvPr id="6" name="Image 1" descr="/home/aman/Desktop/viswakarma/biothon/visiion aid/submission/ppt/assets/pod_back_mou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228725"/>
            <a:ext cx="2331720" cy="174879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303520" y="320040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Back: GoPro-style mount, vents</a:t>
            </a:r>
            <a:endParaRPr lang="en-US" sz="1000" dirty="0"/>
          </a:p>
        </p:txBody>
      </p:sp>
      <p:pic>
        <p:nvPicPr>
          <p:cNvPr id="8" name="Image 2" descr="/home/aman/Desktop/viswakarma/biothon/visiion aid/submission/ppt/assets/pod_fro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2580" y="3520440"/>
            <a:ext cx="2133600" cy="160020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5303520" y="51206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Front: sensor housings</a:t>
            </a:r>
            <a:endParaRPr lang="en-US" sz="1000" dirty="0"/>
          </a:p>
        </p:txBody>
      </p:sp>
      <p:sp>
        <p:nvSpPr>
          <p:cNvPr id="10" name="Shape 5"/>
          <p:cNvSpPr/>
          <p:nvPr/>
        </p:nvSpPr>
        <p:spPr>
          <a:xfrm>
            <a:off x="7818120" y="1005840"/>
            <a:ext cx="3959352" cy="4370832"/>
          </a:xfrm>
          <a:prstGeom prst="roundRect">
            <a:avLst>
              <a:gd name="adj" fmla="val 1386"/>
            </a:avLst>
          </a:prstGeom>
          <a:solidFill>
            <a:srgbClr val="F3F5FA"/>
          </a:solidFill>
          <a:ln w="9525">
            <a:solidFill>
              <a:srgbClr val="DFE4EE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7955280" y="1097280"/>
            <a:ext cx="3685032" cy="4187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53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specification</a:t>
            </a:r>
            <a:endParaRPr lang="en-US" sz="15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Envelope: 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 × 84 × 48 mm shell + front housings</a:t>
            </a:r>
            <a:endParaRPr lang="en-US" sz="15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19-parameter spreadsheet drives the model; shell sketch fully constrained</a:t>
            </a:r>
            <a:endParaRPr lang="en-US" sz="15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Housings: 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sensor +25°, side sensors ±15° yaw, LiDAR −35°</a:t>
            </a:r>
            <a:endParaRPr lang="en-US" sz="15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Mount: 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GoPro-style 2-finger (3 mm, M5) on a chest harness</a:t>
            </a:r>
            <a:endParaRPr lang="en-US" sz="15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Cooling: 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+ top/bottom vents for the Pi 5 active cooler</a:t>
            </a:r>
            <a:endParaRPr lang="en-US" sz="15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Interference check: 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mm³ vs Pi, carrier, Tang Nano, sensors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411480" y="5577840"/>
            <a:ext cx="11365992" cy="420624"/>
          </a:xfrm>
          <a:prstGeom prst="roundRect">
            <a:avLst>
              <a:gd name="adj" fmla="val 10870"/>
            </a:avLst>
          </a:prstGeom>
          <a:solidFill>
            <a:srgbClr val="EEF6E4"/>
          </a:solidFill>
          <a:ln w="9525">
            <a:solidFill>
              <a:srgbClr val="C9E3A8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548640" y="5577840"/>
            <a:ext cx="11109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6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iteration: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the Tang Nano 3D model showed a 182 mm³ clash with the lid (171 mm³ of it the HDMI connector) - shell depth raised 44 → 48 mm in one parameter; clash now 0 mm³.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3200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411480" y="256032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53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Selection &amp; FEA (chest mount)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692640" y="347472"/>
            <a:ext cx="1600200" cy="274320"/>
          </a:xfrm>
          <a:prstGeom prst="roundRect">
            <a:avLst>
              <a:gd name="adj" fmla="val 26667"/>
            </a:avLst>
          </a:prstGeom>
          <a:solidFill>
            <a:srgbClr val="EEF6E4"/>
          </a:solidFill>
          <a:ln w="9525">
            <a:solidFill>
              <a:srgbClr val="C9E3A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F6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</a:t>
            </a:r>
            <a:endParaRPr lang="en-US" sz="900" dirty="0"/>
          </a:p>
        </p:txBody>
      </p:sp>
      <p:pic>
        <p:nvPicPr>
          <p:cNvPr id="4" name="Image 0" descr="/home/aman/Desktop/viswakarma/biothon/visiion aid/submission/ppt/assets/fea_converge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980166"/>
            <a:ext cx="6949440" cy="2565947"/>
          </a:xfrm>
          <a:prstGeom prst="rect">
            <a:avLst/>
          </a:prstGeom>
        </p:spPr>
      </p:pic>
      <p:pic>
        <p:nvPicPr>
          <p:cNvPr id="5" name="Image 1" descr="/home/aman/Desktop/viswakarma/biothon/visiion aid/submission/ppt/assets/fea_contour_v1_sharp_side20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497" y="3611880"/>
            <a:ext cx="2533247" cy="21031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11480" y="55321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sharp roots - 20 N side</a:t>
            </a:r>
            <a:endParaRPr lang="en-US" sz="1000" dirty="0"/>
          </a:p>
        </p:txBody>
      </p:sp>
      <p:pic>
        <p:nvPicPr>
          <p:cNvPr id="7" name="Image 2" descr="/home/aman/Desktop/viswakarma/biothon/visiion aid/submission/ppt/assets/fea_contour_v2_fillet1p5_side20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2642" y="3611880"/>
            <a:ext cx="2633276" cy="210312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3977640" y="55321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1.5 mm fillets - 20 N side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43800" y="960120"/>
          <a:ext cx="423367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325880"/>
                <a:gridCol w="208483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Material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Tg / softening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60 °C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- softens in a car / summer sun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PETG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80 °C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- tough, easy to print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100 °C, UV-stable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3 option outdoors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4"/>
          <p:cNvSpPr/>
          <p:nvPr/>
        </p:nvSpPr>
        <p:spPr>
          <a:xfrm>
            <a:off x="7543800" y="2514600"/>
            <a:ext cx="4233672" cy="3154680"/>
          </a:xfrm>
          <a:prstGeom prst="roundRect">
            <a:avLst>
              <a:gd name="adj" fmla="val 1739"/>
            </a:avLst>
          </a:prstGeom>
          <a:solidFill>
            <a:srgbClr val="F3F5FA"/>
          </a:solidFill>
          <a:ln w="9525">
            <a:solidFill>
              <a:srgbClr val="DFE4EE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7680960" y="2606040"/>
            <a:ext cx="3959352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53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FreeCAD FEM + Gmsh + CalculiX</a:t>
            </a:r>
            <a:endParaRPr lang="en-US" sz="15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A: 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N down (0.3 kg × ~17 g bump); B: 20 N sideways</a:t>
            </a:r>
            <a:endParaRPr lang="en-US" sz="15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PETG: 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2.0 GPa, ν 0.38, yield ≈ 50 MPa; required FoS ≥ 3</a:t>
            </a:r>
            <a:endParaRPr lang="en-US" sz="15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worst FoS 8.7 (every run ≥ 8.6); max deflection 0.064 mm</a:t>
            </a:r>
            <a:endParaRPr lang="en-US" sz="15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v1: 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stress kept rising with mesh refinement → sharp-corner singularity</a:t>
            </a:r>
            <a:endParaRPr lang="en-US" sz="15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v2: 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mm root fillets → converged (≤ 3 % spread, 3 meshes); now in the CAD</a:t>
            </a:r>
            <a:endParaRPr lang="en-US" sz="1500" dirty="0"/>
          </a:p>
        </p:txBody>
      </p:sp>
      <p:sp>
        <p:nvSpPr>
          <p:cNvPr id="12" name="Shape 6"/>
          <p:cNvSpPr/>
          <p:nvPr/>
        </p:nvSpPr>
        <p:spPr>
          <a:xfrm>
            <a:off x="411480" y="5852160"/>
            <a:ext cx="11365992" cy="420624"/>
          </a:xfrm>
          <a:prstGeom prst="roundRect">
            <a:avLst>
              <a:gd name="adj" fmla="val 10870"/>
            </a:avLst>
          </a:prstGeom>
          <a:solidFill>
            <a:srgbClr val="EEF6E4"/>
          </a:solidFill>
          <a:ln w="9525">
            <a:solidFill>
              <a:srgbClr val="C9E3A8"/>
            </a:solidFill>
            <a:prstDash val="solid"/>
          </a:ln>
        </p:spPr>
      </p:sp>
      <p:sp>
        <p:nvSpPr>
          <p:cNvPr id="13" name="Text 7"/>
          <p:cNvSpPr txBox="1"/>
          <p:nvPr/>
        </p:nvSpPr>
        <p:spPr>
          <a:xfrm>
            <a:off x="548640" y="5852160"/>
            <a:ext cx="11109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6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Limitations: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isotropic model (printed parts are anisotropic); finest v2 mesh failed to solve, so v2 uses 3 mesh levels; a printed-mount pull test is planned for Stage 3.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3200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411480" y="256032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53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- Schematic &amp; Carrier PCB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692640" y="347472"/>
            <a:ext cx="1600200" cy="274320"/>
          </a:xfrm>
          <a:prstGeom prst="roundRect">
            <a:avLst>
              <a:gd name="adj" fmla="val 26667"/>
            </a:avLst>
          </a:prstGeom>
          <a:solidFill>
            <a:srgbClr val="EEF6E4"/>
          </a:solidFill>
          <a:ln w="9525">
            <a:solidFill>
              <a:srgbClr val="C9E3A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F6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KICAD 9</a:t>
            </a:r>
            <a:endParaRPr lang="en-US" sz="900" dirty="0"/>
          </a:p>
        </p:txBody>
      </p:sp>
      <p:pic>
        <p:nvPicPr>
          <p:cNvPr id="4" name="Image 0" descr="/home/aman/Desktop/viswakarma/biothon/visiion aid/submission/ppt/assets/schemat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2936" y="960120"/>
            <a:ext cx="6723648" cy="47548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11480" y="5532120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Carrier-board schematic (A3): power, Pi header, FPGA, sensors, haptics, buttons, test points</a:t>
            </a:r>
            <a:endParaRPr lang="en-US" sz="1000" dirty="0"/>
          </a:p>
        </p:txBody>
      </p:sp>
      <p:pic>
        <p:nvPicPr>
          <p:cNvPr id="6" name="Image 1" descr="/home/aman/Desktop/viswakarma/biothon/visiion aid/submission/ppt/assets/pcb_3d_is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0477" y="960120"/>
            <a:ext cx="3451718" cy="25146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315200" y="3566160"/>
            <a:ext cx="4462272" cy="2148840"/>
          </a:xfrm>
          <a:prstGeom prst="roundRect">
            <a:avLst>
              <a:gd name="adj" fmla="val 2553"/>
            </a:avLst>
          </a:prstGeom>
          <a:solidFill>
            <a:srgbClr val="F3F5FA"/>
          </a:solidFill>
          <a:ln w="9525">
            <a:solidFill>
              <a:srgbClr val="DFE4EE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452360" y="3657600"/>
            <a:ext cx="418795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53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distribution &amp; checks</a:t>
            </a:r>
            <a:endParaRPr lang="en-US" sz="15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bank → Pi 5 → header 5 V → 500 mA PTC → +5 V</a:t>
            </a:r>
            <a:endParaRPr lang="en-US" sz="15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 V → AMS1117 → +3V3 (sensors, motors, IMU)</a:t>
            </a:r>
            <a:endParaRPr lang="en-US" sz="15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 V → SS14 → Tang Nano (blocks USB back-feed)</a:t>
            </a:r>
            <a:endParaRPr lang="en-US" sz="15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Verified: 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 0 · DRC 0 · unrouted 0 · parity 0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411480" y="5852160"/>
            <a:ext cx="11365992" cy="420624"/>
          </a:xfrm>
          <a:prstGeom prst="roundRect">
            <a:avLst>
              <a:gd name="adj" fmla="val 10870"/>
            </a:avLst>
          </a:prstGeom>
          <a:solidFill>
            <a:srgbClr val="EEF6E4"/>
          </a:solidFill>
          <a:ln w="9525">
            <a:solidFill>
              <a:srgbClr val="C9E3A8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48640" y="5852160"/>
            <a:ext cx="11109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6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PCB: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 × 56 mm, 2 layers, Pi 5 outline + mounting holes, 20 mm standoffs + 40-way ribbon; 3.3 V-bank FPGA pins only; MOSFET motor drivers with flyback diodes; Gerbers generated.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3200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411480" y="256032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53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of Materials &amp; Sourcing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758952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2514600"/>
                <a:gridCol w="411480"/>
                <a:gridCol w="2240280"/>
                <a:gridCol w="11887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 / specification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· origin · lead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 (basis)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5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computer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Raspberry Pi 5 4 GB + active cooler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KSP Electronics · imported · out of stock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15,050 (quote + est.)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FPGA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Sipeed Tang Nano 9K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Probots · imported · out of stock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2,999 (quote)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Camera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 Camera Module 3 + cable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Thingbits · imported · in stock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3,358 (quote + est.)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LiDAR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Benewake TF-Luna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Probots · imported · out of stock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2,118 (quote)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Ultrasonic + IMU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RCWL-1601 × 4, MPU-6050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Robu · local · 2-4 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 (est.)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Feedback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Coin motors × 2, BT bone-conduction headset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Robu / Amazon.in · 2-5 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2,120 (est.)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10,000 mAh BIS power bank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· 1-3 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1,200 (est.)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Carrier PCB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2-layer fab ×5 + SMD parts + connectors + ribbon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LionCircuits (domestic) · 5-7 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3,250 (est.)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Mechanical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PETG, standoffs, inserts, harness, buttons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Robu / Amazon.in · 2-5 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2,350 (est.)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 GB A2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· 1-3 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700 (est.)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Grant ₹30,000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33,945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8183880" y="1005840"/>
            <a:ext cx="3593592" cy="2331720"/>
          </a:xfrm>
          <a:prstGeom prst="roundRect">
            <a:avLst>
              <a:gd name="adj" fmla="val 2353"/>
            </a:avLst>
          </a:prstGeom>
          <a:solidFill>
            <a:srgbClr val="EEF6E4"/>
          </a:solidFill>
          <a:ln w="9525">
            <a:solidFill>
              <a:srgbClr val="C9E3A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321040" y="1097280"/>
            <a:ext cx="331927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53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- honest status</a:t>
            </a:r>
            <a:endParaRPr lang="en-US" sz="15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except the Pi 5 board: ₹19,445.</a:t>
            </a:r>
            <a:endParaRPr lang="en-US" sz="15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5 4 GB on 9 Oct: ₹12,600-14,500, out of stock → ₹2,045-3,945 over the grant.</a:t>
            </a:r>
            <a:endParaRPr lang="en-US" sz="15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5 must be ≤ ₹10,555 to fit; else re-quote or cover the gap from team funds.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183880" y="3474720"/>
            <a:ext cx="3593592" cy="2148840"/>
          </a:xfrm>
          <a:prstGeom prst="roundRect">
            <a:avLst>
              <a:gd name="adj" fmla="val 2553"/>
            </a:avLst>
          </a:prstGeom>
          <a:solidFill>
            <a:srgbClr val="F3F5FA"/>
          </a:solidFill>
          <a:ln w="9525">
            <a:solidFill>
              <a:srgbClr val="DFE4E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321040" y="3566160"/>
            <a:ext cx="331927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53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life (calculated, cited Pi 5 W)</a:t>
            </a:r>
            <a:endParaRPr lang="en-US" sz="15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5: ≈ 3.0 W idle, ≈ 8.8 W full load (published); rest 1.34 W (est.)</a:t>
            </a:r>
            <a:endParaRPr lang="en-US" sz="15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always on: 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 W → 3.1 h</a:t>
            </a:r>
            <a:endParaRPr lang="en-US" sz="15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Event-triggered, ~50 % (assumed): 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 W → 4.3 h</a:t>
            </a:r>
            <a:endParaRPr lang="en-US" sz="15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idle: 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 W → 7.2 h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11480" y="5806440"/>
            <a:ext cx="11365992" cy="420624"/>
          </a:xfrm>
          <a:prstGeom prst="roundRect">
            <a:avLst>
              <a:gd name="adj" fmla="val 10870"/>
            </a:avLst>
          </a:prstGeom>
          <a:solidFill>
            <a:srgbClr val="EEF6E4"/>
          </a:solidFill>
          <a:ln w="9525">
            <a:solidFill>
              <a:srgbClr val="C9E3A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5806440"/>
            <a:ext cx="11109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6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status: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ordered in Stage 2. Quotes are live listings checked 9 Oct 2026; Pi 5, Tang Nano 9K and TF-Luna were out of stock that day - re-quote and order early. Itemised BOM: design/bom/VisionAid_BOM_Power.xlsx.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3200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411480" y="256032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53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Safety Island - Verification &amp; Implementation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692640" y="347472"/>
            <a:ext cx="1600200" cy="274320"/>
          </a:xfrm>
          <a:prstGeom prst="roundRect">
            <a:avLst>
              <a:gd name="adj" fmla="val 26667"/>
            </a:avLst>
          </a:prstGeom>
          <a:solidFill>
            <a:srgbClr val="EEF6E4"/>
          </a:solidFill>
          <a:ln w="9525">
            <a:solidFill>
              <a:srgbClr val="C9E3A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F6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 + REAL P&amp;R</a:t>
            </a:r>
            <a:endParaRPr lang="en-US" sz="900" dirty="0"/>
          </a:p>
        </p:txBody>
      </p:sp>
      <p:pic>
        <p:nvPicPr>
          <p:cNvPr id="4" name="Image 0" descr="/home/aman/Desktop/viswakarma/biothon/visiion aid/submission/ppt/assets/waveform_latency_zoo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560195"/>
            <a:ext cx="6858000" cy="314325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11480" y="525780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Plotted event: 136 ns from echo edge to motor ON (motor rises on the same clock as the zone change). The testbench monitor samples 2 clocks later, so its 214 ns is a conservative upper bound.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52360" y="960120"/>
          <a:ext cx="4325112" cy="914400"/>
        </p:xfrm>
        <a:graphic>
          <a:graphicData uri="http://schemas.openxmlformats.org/drawingml/2006/table">
            <a:tbl>
              <a:tblPr/>
              <a:tblGrid>
                <a:gridCol w="2240280"/>
                <a:gridCol w="208483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Testbench check (Icarus Verilog)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 1500 / 2500 mm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1500 / 2500 mm (exact)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Echo edge → motor 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136 ns wave; ≤ 214 ns bound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Frames to Pi (Verilog / Py)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 / 192 decoded, 0 bad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LiDAR drop-off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 22.3 ms after change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 heartbeat lost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AI-offline 666 ms; alerts 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 unplugged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fault flag + FAULT_N 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TESTS PASSED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52360" y="3429000"/>
          <a:ext cx="4325112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1691640"/>
                <a:gridCol w="1673352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 MHz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GW1NR-9 nextpnr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Zynq-7020 Vivado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5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1,561 / 8,640 (18 %)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658 / 53,200 (1.24 %)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Flip-flops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574 / 6,480 (8 %)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574 / 106,400 (0.54 %)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ALU / DSP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930 ALU (14 %)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DSP (0.45 %)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 RAM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/ 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/ 140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I/O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 / 276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(OOC run)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Fmax 79.4 MHz, met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WNS +29.1 ns, met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</a:tbl>
          </a:graphicData>
        </a:graphic>
      </p:graphicFrame>
      <p:sp>
        <p:nvSpPr>
          <p:cNvPr id="8" name="Text 3"/>
          <p:cNvSpPr txBox="1"/>
          <p:nvPr/>
        </p:nvSpPr>
        <p:spPr>
          <a:xfrm>
            <a:off x="7452360" y="5486400"/>
            <a:ext cx="4325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Routed results (GW1NR-9 bitstream built; Vivado out-of-context). No hardware yet.</a:t>
            </a:r>
            <a:endParaRPr lang="en-US" sz="1000" dirty="0"/>
          </a:p>
        </p:txBody>
      </p:sp>
      <p:sp>
        <p:nvSpPr>
          <p:cNvPr id="9" name="Shape 4"/>
          <p:cNvSpPr/>
          <p:nvPr/>
        </p:nvSpPr>
        <p:spPr>
          <a:xfrm>
            <a:off x="411480" y="5852160"/>
            <a:ext cx="11365992" cy="420624"/>
          </a:xfrm>
          <a:prstGeom prst="roundRect">
            <a:avLst>
              <a:gd name="adj" fmla="val 10870"/>
            </a:avLst>
          </a:prstGeom>
          <a:solidFill>
            <a:srgbClr val="EEF6E4"/>
          </a:solidFill>
          <a:ln w="9525">
            <a:solidFill>
              <a:srgbClr val="C9E3A8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548640" y="5852160"/>
            <a:ext cx="11109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6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Cross-verified: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Verilog FPGA accepted a command built by our Python Pi code, and the Python decoder read every byte the FPGA sent - both sides of the link agree.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3200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411480" y="256032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53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Path (Raspberry Pi software) - Proof of Concept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692640" y="347472"/>
            <a:ext cx="1600200" cy="274320"/>
          </a:xfrm>
          <a:prstGeom prst="roundRect">
            <a:avLst>
              <a:gd name="adj" fmla="val 26667"/>
            </a:avLst>
          </a:prstGeom>
          <a:solidFill>
            <a:srgbClr val="EEF6E4"/>
          </a:solidFill>
          <a:ln w="9525">
            <a:solidFill>
              <a:srgbClr val="C9E3A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F6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· LAPTOP</a:t>
            </a:r>
            <a:endParaRPr lang="en-US" sz="900" dirty="0"/>
          </a:p>
        </p:txBody>
      </p:sp>
      <p:pic>
        <p:nvPicPr>
          <p:cNvPr id="4" name="Image 0" descr="/home/aman/Desktop/viswakarma/biothon/visiion aid/submission/ppt/assets/ai_path_resul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972179"/>
            <a:ext cx="11365992" cy="3267723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" y="4343400"/>
            <a:ext cx="5577840" cy="1371600"/>
          </a:xfrm>
          <a:prstGeom prst="roundRect">
            <a:avLst>
              <a:gd name="adj" fmla="val 4000"/>
            </a:avLst>
          </a:prstGeom>
          <a:solidFill>
            <a:srgbClr val="F3F5FA"/>
          </a:solidFill>
          <a:ln w="9525">
            <a:solidFill>
              <a:srgbClr val="DFE4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443484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53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runs (same code for the Pi 5)</a:t>
            </a:r>
            <a:endParaRPr lang="en-US" sz="15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YOLOv5n (ONNX) → hazard + side; RapidOCR; Piper TTS English + Hindi; alert manager; IMU floor baseline</a:t>
            </a:r>
            <a:endParaRPr lang="en-US" sz="15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Event-triggered: AI runs only when the FPGA sees an obstacle &lt; 3 m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172200" y="4343400"/>
            <a:ext cx="5605272" cy="1371600"/>
          </a:xfrm>
          <a:prstGeom prst="roundRect">
            <a:avLst>
              <a:gd name="adj" fmla="val 4000"/>
            </a:avLst>
          </a:prstGeom>
          <a:solidFill>
            <a:srgbClr val="EEF6E4"/>
          </a:solidFill>
          <a:ln w="9525">
            <a:solidFill>
              <a:srgbClr val="C9E3A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09360" y="4434840"/>
            <a:ext cx="53309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53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Full-loop replay (FPGA sim bytes → speech)</a:t>
            </a:r>
            <a:endParaRPr lang="en-US" sz="15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"Step down ahead. Stop."  ·  "Check device: head sensor."</a:t>
            </a:r>
            <a:endParaRPr lang="en-US" sz="15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"person, left, 1.6 metres" - WAV files in design/pi/results/replay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11480" y="5833872"/>
            <a:ext cx="11365992" cy="420624"/>
          </a:xfrm>
          <a:prstGeom prst="roundRect">
            <a:avLst>
              <a:gd name="adj" fmla="val 10870"/>
            </a:avLst>
          </a:prstGeom>
          <a:solidFill>
            <a:srgbClr val="EEF6E4"/>
          </a:solidFill>
          <a:ln w="9525">
            <a:solidFill>
              <a:srgbClr val="C9E3A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5833872"/>
            <a:ext cx="11109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6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scope: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speeds measured on an i7 laptop (4 threads), NOT a Pi 5. Accuracy is proof-of-concept, not production-grade: mAP50 0.41 on stock COCO weights (200 images vs human labels). Stage 3: fine-tune on our own Indian, chest-height data - same plan as the pothole model.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3200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411480" y="256032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53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 - Pothole Detector (fine-tuned)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692640" y="347472"/>
            <a:ext cx="1600200" cy="274320"/>
          </a:xfrm>
          <a:prstGeom prst="roundRect">
            <a:avLst>
              <a:gd name="adj" fmla="val 26667"/>
            </a:avLst>
          </a:prstGeom>
          <a:solidFill>
            <a:srgbClr val="EEF6E4"/>
          </a:solidFill>
          <a:ln w="9525">
            <a:solidFill>
              <a:srgbClr val="C9E3A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F6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· HELD-OUT TEST</a:t>
            </a:r>
            <a:endParaRPr lang="en-US" sz="900" dirty="0"/>
          </a:p>
        </p:txBody>
      </p:sp>
      <p:pic>
        <p:nvPicPr>
          <p:cNvPr id="4" name="Image 0" descr="/home/aman/Desktop/viswakarma/biothon/visiion aid/submission/ppt/assets/pothole_test_p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" y="960120"/>
            <a:ext cx="4553712" cy="455371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11480" y="554126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held-out INDIAN road test photos (RDD2020) - boxes = its predictions, number = confidence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57800" y="960120"/>
          <a:ext cx="6519672" cy="914400"/>
        </p:xfrm>
        <a:graphic>
          <a:graphicData uri="http://schemas.openxmlformats.org/drawingml/2006/table">
            <a:tbl>
              <a:tblPr/>
              <a:tblGrid>
                <a:gridCol w="4416552"/>
                <a:gridCol w="210312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Held-out test split (330 images, 736 potholes)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5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mAP50 / mAP50-95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 / 0.19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Speed, laptop CPU, 4 threads (not Pi 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 ms / image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 fine-tuning (COCO model)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pothole class at 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257800" y="3063240"/>
            <a:ext cx="3172968" cy="2560320"/>
          </a:xfrm>
          <a:prstGeom prst="roundRect">
            <a:avLst>
              <a:gd name="adj" fmla="val 2143"/>
            </a:avLst>
          </a:prstGeom>
          <a:solidFill>
            <a:srgbClr val="F3F5FA"/>
          </a:solidFill>
          <a:ln w="9525">
            <a:solidFill>
              <a:srgbClr val="DFE4EE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5394960" y="3154680"/>
            <a:ext cx="2898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53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was trained</a:t>
            </a:r>
            <a:endParaRPr lang="en-US" sz="15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YOLO11n, COCO-pretrained start, 100 epochs, RTX 5060 GPU, 8.8 min</a:t>
            </a:r>
            <a:endParaRPr lang="en-US" sz="15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1,239 train images: Ryukijano public set (153 unique photos, CC BY 4.0) + 1,070 REAL INDIAN road photos (RDD2020, Arya et al. 2020, peer-reviewed)</a:t>
            </a:r>
            <a:endParaRPr lang="en-US" sz="15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Checked: zero unique-photo overlap between train, valid, test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8604504" y="3063240"/>
            <a:ext cx="3172968" cy="2560320"/>
          </a:xfrm>
          <a:prstGeom prst="roundRect">
            <a:avLst>
              <a:gd name="adj" fmla="val 2143"/>
            </a:avLst>
          </a:prstGeom>
          <a:solidFill>
            <a:srgbClr val="F3F5FA"/>
          </a:solidFill>
          <a:ln w="9525">
            <a:solidFill>
              <a:srgbClr val="DFE4EE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741664" y="3154680"/>
            <a:ext cx="2898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limits</a:t>
            </a:r>
            <a:endParaRPr lang="en-US" sz="15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~4 in 10 potholes; a bit over half of detections are real</a:t>
            </a:r>
            <a:endParaRPr lang="en-US" sz="15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RDD2020 photos are dashcam/vehicle height, not yet our chest-mounted angle</a:t>
            </a:r>
            <a:endParaRPr lang="en-US" sz="15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3: capture our own chest-height photos with the actual pod camera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411480" y="5833872"/>
            <a:ext cx="11365992" cy="420624"/>
          </a:xfrm>
          <a:prstGeom prst="roundRect">
            <a:avLst>
              <a:gd name="adj" fmla="val 10870"/>
            </a:avLst>
          </a:prstGeom>
          <a:solidFill>
            <a:srgbClr val="EEF6E4"/>
          </a:solidFill>
          <a:ln w="9525">
            <a:solidFill>
              <a:srgbClr val="C9E3A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48640" y="5833872"/>
            <a:ext cx="11109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6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&gt; precision on purpose - missing a pothole risks a fall, a false alarm costs one caution beep. Test set now includes 230 real Indian road photos (RDD2020), not just the original non-Indian set. Files: design/pi/training.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3200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411480" y="256032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53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Coverage &amp; Drop-off Analysis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692640" y="347472"/>
            <a:ext cx="1600200" cy="274320"/>
          </a:xfrm>
          <a:prstGeom prst="roundRect">
            <a:avLst>
              <a:gd name="adj" fmla="val 26667"/>
            </a:avLst>
          </a:prstGeom>
          <a:solidFill>
            <a:srgbClr val="EEF6E4"/>
          </a:solidFill>
          <a:ln w="9525">
            <a:solidFill>
              <a:srgbClr val="C9E3A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F6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+ SIMULATED</a:t>
            </a:r>
            <a:endParaRPr lang="en-US" sz="900" dirty="0"/>
          </a:p>
        </p:txBody>
      </p:sp>
      <p:pic>
        <p:nvPicPr>
          <p:cNvPr id="4" name="Image 0" descr="/home/aman/Desktop/viswakarma/biothon/visiion aid/submission/ppt/assets/sensor_geomet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969721"/>
            <a:ext cx="11365992" cy="340979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" y="4480560"/>
            <a:ext cx="3657600" cy="1234440"/>
          </a:xfrm>
          <a:prstGeom prst="roundRect">
            <a:avLst>
              <a:gd name="adj" fmla="val 4444"/>
            </a:avLst>
          </a:prstGeom>
          <a:solidFill>
            <a:srgbClr val="EEF6E4"/>
          </a:solidFill>
          <a:ln w="9525">
            <a:solidFill>
              <a:srgbClr val="C9E3A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457200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53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Drop-off: target met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LiDAR at −35° from 1.3 m sees a 15 cm step 1.86 m ahead (≈ 1.5 s at walking speed)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251960" y="4480560"/>
            <a:ext cx="3657600" cy="1234440"/>
          </a:xfrm>
          <a:prstGeom prst="roundRect">
            <a:avLst>
              <a:gd name="adj" fmla="val 4444"/>
            </a:avLst>
          </a:prstGeom>
          <a:solidFill>
            <a:srgbClr val="F3F5FA"/>
          </a:solidFill>
          <a:ln w="9525">
            <a:solidFill>
              <a:srgbClr val="DFE4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389120" y="457200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Found: walking sway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±3° chest sway → 25 false alarms in 20 s; IMU-corrected baseline → 0 (now in the Pi code)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092440" y="4480560"/>
            <a:ext cx="3685032" cy="1234440"/>
          </a:xfrm>
          <a:prstGeom prst="roundRect">
            <a:avLst>
              <a:gd name="adj" fmla="val 4444"/>
            </a:avLst>
          </a:prstGeom>
          <a:solidFill>
            <a:srgbClr val="F3F5FA"/>
          </a:solidFill>
          <a:ln w="9525">
            <a:solidFill>
              <a:srgbClr val="DFE4E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0" y="4572000"/>
            <a:ext cx="34107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Found: waist-height gap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1 m ahead, 0.3-1.0 m height is not covered → tilt forward sensors −10° in CAD v2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11480" y="5833872"/>
            <a:ext cx="11365992" cy="420624"/>
          </a:xfrm>
          <a:prstGeom prst="roundRect">
            <a:avLst>
              <a:gd name="adj" fmla="val 10870"/>
            </a:avLst>
          </a:prstGeom>
          <a:solidFill>
            <a:srgbClr val="EEF6E4"/>
          </a:solidFill>
          <a:ln w="9525">
            <a:solidFill>
              <a:srgbClr val="C9E3A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5833872"/>
            <a:ext cx="11109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6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Assumptions: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 m pod height, 15° ultrasonic half-beam (datasheet class), ±3° sway at 1.8 Hz, 1 cm LiDAR noise - design/analysis/sensor_geometry.py.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3200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411480" y="256032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53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Maker Journey - Evidence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1005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3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data-flow (simplified)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1325880"/>
            <a:ext cx="2743200" cy="502920"/>
          </a:xfrm>
          <a:prstGeom prst="roundRect">
            <a:avLst>
              <a:gd name="adj" fmla="val 10909"/>
            </a:avLst>
          </a:prstGeom>
          <a:solidFill>
            <a:srgbClr val="25325F"/>
          </a:solidFill>
          <a:ln w="9525">
            <a:solidFill>
              <a:srgbClr val="25325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258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 ultrasonic + LiDAR + camera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783080" y="1828800"/>
            <a:ext cx="914" cy="164592"/>
          </a:xfrm>
          <a:prstGeom prst="line">
            <a:avLst/>
          </a:prstGeom>
          <a:noFill/>
          <a:ln w="22225">
            <a:solidFill>
              <a:srgbClr val="5B6BA8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11480" y="1993392"/>
            <a:ext cx="2743200" cy="502920"/>
          </a:xfrm>
          <a:prstGeom prst="roundRect">
            <a:avLst>
              <a:gd name="adj" fmla="val 10909"/>
            </a:avLst>
          </a:prstGeom>
          <a:solidFill>
            <a:srgbClr val="B3261E"/>
          </a:solidFill>
          <a:ln w="9525">
            <a:solidFill>
              <a:srgbClr val="B3261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99339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safety island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(Tang Nano 9K) - zone logic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 flipH="1">
            <a:off x="667512" y="2496312"/>
            <a:ext cx="338328" cy="164592"/>
          </a:xfrm>
          <a:prstGeom prst="line">
            <a:avLst/>
          </a:prstGeom>
          <a:noFill/>
          <a:ln w="22225">
            <a:solidFill>
              <a:srgbClr val="5B6BA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560320" y="2496312"/>
            <a:ext cx="338328" cy="164592"/>
          </a:xfrm>
          <a:prstGeom prst="line">
            <a:avLst/>
          </a:prstGeom>
          <a:noFill/>
          <a:ln w="22225">
            <a:solidFill>
              <a:srgbClr val="5B6BA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11480" y="2660904"/>
            <a:ext cx="1298448" cy="566928"/>
          </a:xfrm>
          <a:prstGeom prst="roundRect">
            <a:avLst>
              <a:gd name="adj" fmla="val 9677"/>
            </a:avLst>
          </a:prstGeom>
          <a:solidFill>
            <a:srgbClr val="25325F"/>
          </a:solidFill>
          <a:ln w="9525">
            <a:solidFill>
              <a:srgbClr val="25325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660904"/>
            <a:ext cx="1207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Haptic motors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buzzer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(hardware-bounded)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856232" y="2660904"/>
            <a:ext cx="1298448" cy="566928"/>
          </a:xfrm>
          <a:prstGeom prst="roundRect">
            <a:avLst>
              <a:gd name="adj" fmla="val 9677"/>
            </a:avLst>
          </a:prstGeom>
          <a:solidFill>
            <a:srgbClr val="5B6BA8"/>
          </a:solidFill>
          <a:ln w="9525">
            <a:solidFill>
              <a:srgbClr val="5B6BA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901952" y="2660904"/>
            <a:ext cx="1207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5 AI path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+ OCR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(event-triggered)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505456" y="3227832"/>
            <a:ext cx="914" cy="164592"/>
          </a:xfrm>
          <a:prstGeom prst="line">
            <a:avLst/>
          </a:prstGeom>
          <a:noFill/>
          <a:ln w="22225">
            <a:solidFill>
              <a:srgbClr val="5B6BA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783080" y="3392424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25325F"/>
          </a:solidFill>
          <a:ln w="9525">
            <a:solidFill>
              <a:srgbClr val="25325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828800" y="3392424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Bluetooth headset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spoken alerts (Hi / En)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411480" y="39776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architecture + timing on slide 5 (System Architecture)</a:t>
            </a:r>
            <a:endParaRPr lang="en-US" sz="1000" dirty="0"/>
          </a:p>
        </p:txBody>
      </p:sp>
      <p:pic>
        <p:nvPicPr>
          <p:cNvPr id="19" name="Image 0" descr="/home/aman/Desktop/viswakarma/biothon/visiion aid/submission/ppt/assets/freecad_tre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37560" y="1005840"/>
            <a:ext cx="4114800" cy="2743200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3337560" y="37490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FreeCAD feature tree - FingerRootFillet R 1.5 mm</a:t>
            </a:r>
            <a:endParaRPr lang="en-US" sz="1000" dirty="0"/>
          </a:p>
        </p:txBody>
      </p:sp>
      <p:pic>
        <p:nvPicPr>
          <p:cNvPr id="21" name="Image 1" descr="/home/aman/Desktop/viswakarma/biothon/visiion aid/submission/ppt/assets/drc_erc_strip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1300344"/>
            <a:ext cx="4142232" cy="1011192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7635240" y="2587752"/>
            <a:ext cx="4142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KiCad DRC: 0 violations, 0 unconnected  ·  ERC: 0 errors, 0 warnings</a:t>
            </a:r>
            <a:endParaRPr lang="en-US" sz="1000" dirty="0"/>
          </a:p>
        </p:txBody>
      </p:sp>
      <p:pic>
        <p:nvPicPr>
          <p:cNvPr id="23" name="Image 2" descr="/home/aman/Desktop/viswakarma/biothon/visiion aid/submission/ppt/assets/gtkwave_cro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6516" y="4069080"/>
            <a:ext cx="8382000" cy="91440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3337560" y="4983480"/>
            <a:ext cx="8439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GTKWave: echo falls → distance 749 mm → zone 3 → left motor ON (simulation)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7635240" y="2880360"/>
            <a:ext cx="4142232" cy="1097280"/>
          </a:xfrm>
          <a:prstGeom prst="roundRect">
            <a:avLst>
              <a:gd name="adj" fmla="val 5000"/>
            </a:avLst>
          </a:prstGeom>
          <a:solidFill>
            <a:srgbClr val="F3F5FA"/>
          </a:solidFill>
          <a:ln w="9525">
            <a:solidFill>
              <a:srgbClr val="DFE4EE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7772400" y="2971800"/>
            <a:ext cx="3867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53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repository (native files)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github.com/silentaf/viswa_id1 - .FCStd, .step, .kicad_sch/.kicad_pcb, .v, .xlsx, timestamped commits</a:t>
            </a:r>
            <a:endParaRPr lang="en-US" sz="1500" dirty="0"/>
          </a:p>
        </p:txBody>
      </p:sp>
      <p:sp>
        <p:nvSpPr>
          <p:cNvPr id="27" name="Shape 22"/>
          <p:cNvSpPr/>
          <p:nvPr/>
        </p:nvSpPr>
        <p:spPr>
          <a:xfrm>
            <a:off x="411480" y="5806440"/>
            <a:ext cx="11365992" cy="420624"/>
          </a:xfrm>
          <a:prstGeom prst="roundRect">
            <a:avLst>
              <a:gd name="adj" fmla="val 10870"/>
            </a:avLst>
          </a:prstGeom>
          <a:solidFill>
            <a:srgbClr val="EEF6E4"/>
          </a:solidFill>
          <a:ln w="9525">
            <a:solidFill>
              <a:srgbClr val="C9E3A8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548640" y="5806440"/>
            <a:ext cx="11109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6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→ 2: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PYNQ-Z2 → Pi 5 + Tang Nano 9K; per-stage latency specs; LiDAR for drop-offs; FEA-driven fillet; CAD clash fix 44 → 48 mm (details on the next slide).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3200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411480" y="256032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53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→ Stage 2 Engineering Iterations</a:t>
            </a:r>
            <a:endParaRPr lang="en-US" sz="2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3931920"/>
                <a:gridCol w="441655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1 said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2 decision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5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PYNQ-Z2 does everything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 5 (AI) + Tang Nano 9K FPGA (safety island)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× A9 650 MHz vs 4 × A76 2.4 GHz for AI; fault isolation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"&lt;10 ms" reflex, "&lt;100 ms" on cover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Per-stage specs: echo → motor ≤ 1 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Echo from 3 m alone takes ≈ 17.5 ms - "&lt;10 ms end-to-end" is impossible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Downward ultrasonic for drop-offs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Downward TF-Luna LiDAR (−35°)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Narrow beam gives a clean floor-distance signal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Wristband with 2 motors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 / R motors on the chest straps, wired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motors on one wrist are hard to tell apart; no radio in safety path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bone-conduction driver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Bluetooth bone-conduction headset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 5 has no analog audio; speech is the information channel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"&lt; ₹5,500 BOM"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Prototype BOM ₹33,945 at 9 Oct quotes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 5 + camera alone exceed ₹5,500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"250M+", "₹4-6 lakh" competitors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Cited 2020 data; SmartCane disclosed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 and honest public-search disclosure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10-15 pilot users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3, after ethics approval + O&amp;M instructor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Honest scope for a design round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11480" y="5806440"/>
            <a:ext cx="11365992" cy="420624"/>
          </a:xfrm>
          <a:prstGeom prst="roundRect">
            <a:avLst>
              <a:gd name="adj" fmla="val 10870"/>
            </a:avLst>
          </a:prstGeom>
          <a:solidFill>
            <a:srgbClr val="EEF6E4"/>
          </a:solidFill>
          <a:ln w="9525">
            <a:solidFill>
              <a:srgbClr val="C9E3A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5806440"/>
            <a:ext cx="11109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6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by our own analysis: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 → 1.5 mm root fillets; CAD clash → shell 44 → 48 mm; sway simulation → IMU floor baseline; power analysis → event-triggered AI; tests → OCR word-order bug fixed.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3200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411480" y="256032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53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Hazard Mitigation</a:t>
            </a:r>
            <a:endParaRPr lang="en-US" sz="2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7680960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1691640"/>
                <a:gridCol w="3840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 mode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Hazard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Embedded fail-safe / mitigation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Ultrasonic stuck / unplugged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Missed obstacle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No-response detector (3 slots) → buzzer "check device" + FAULT_N (simulated)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 crash / hang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object names / OCR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FPGA watchdog → "AI offline" chirp; alert path unaffected (simulated)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Bluetooth headset drops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speech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Haptics carry all safety alerts; distinct cue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Walking sway / tilt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 drop-off alarms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IMU-corrected floor baseline: 25 → 0 false alarms (simulated)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 5 overheats in pod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Throttling, slow AI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cooler + vents in CAD; thermal test in Stage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Carrier short circuit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 5 V rail damage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 mA PTC fuse on the header supply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Battery fire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Burns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BIS-certified power bank only - no loose Li-ion cells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 fatigue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ignores alerts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Zone hysteresis + quiet mode (silences "info" only)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8275320" y="1005840"/>
            <a:ext cx="3502152" cy="4526280"/>
          </a:xfrm>
          <a:prstGeom prst="roundRect">
            <a:avLst>
              <a:gd name="adj" fmla="val 1567"/>
            </a:avLst>
          </a:prstGeom>
          <a:solidFill>
            <a:srgbClr val="F3F5FA"/>
          </a:solidFill>
          <a:ln w="9525">
            <a:solidFill>
              <a:srgbClr val="DFE4E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412480" y="1097280"/>
            <a:ext cx="322783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53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considered in the design (not certified)</a:t>
            </a:r>
            <a:endParaRPr lang="en-US" sz="15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IEC 62368-1 / IS 13252 - 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equipment safety</a:t>
            </a:r>
            <a:endParaRPr lang="en-US" sz="15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IEC 62133-2 / IS 16046 - 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Li-ion (via BIS power bank)</a:t>
            </a:r>
            <a:endParaRPr lang="en-US" sz="15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IEC 60529 - 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IP54 target for the pod</a:t>
            </a:r>
            <a:endParaRPr lang="en-US" sz="15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10993-5/-10 - 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skin-contact materials (harness)</a:t>
            </a:r>
            <a:endParaRPr lang="en-US" sz="15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9999 - 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assistive-product classification</a:t>
            </a:r>
            <a:endParaRPr lang="en-US" sz="15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WPC / ETA - 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pre-certified radio modules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11480" y="5715000"/>
            <a:ext cx="11365992" cy="420624"/>
          </a:xfrm>
          <a:prstGeom prst="roundRect">
            <a:avLst>
              <a:gd name="adj" fmla="val 10870"/>
            </a:avLst>
          </a:prstGeom>
          <a:solidFill>
            <a:srgbClr val="EEF6E4"/>
          </a:solidFill>
          <a:ln w="9525">
            <a:solidFill>
              <a:srgbClr val="C9E3A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5715000"/>
            <a:ext cx="11109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6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principle: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cane stays the primary aid - VisionAid only adds warnings, and its alert path is independent of the AI computer.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3200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411480" y="256032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53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- 4-Month Fabrication Plan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1051560"/>
            <a:ext cx="2697480" cy="502920"/>
          </a:xfrm>
          <a:prstGeom prst="roundRect">
            <a:avLst>
              <a:gd name="adj" fmla="val 10909"/>
            </a:avLst>
          </a:prstGeom>
          <a:solidFill>
            <a:srgbClr val="25325F"/>
          </a:solidFill>
          <a:ln w="9525">
            <a:solidFill>
              <a:srgbClr val="2532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515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2026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691640"/>
            <a:ext cx="2697480" cy="2743200"/>
          </a:xfrm>
          <a:prstGeom prst="roundRect">
            <a:avLst>
              <a:gd name="adj" fmla="val 2034"/>
            </a:avLst>
          </a:prstGeom>
          <a:solidFill>
            <a:srgbClr val="F3F5FA"/>
          </a:solidFill>
          <a:ln w="9525">
            <a:solidFill>
              <a:srgbClr val="DFE4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783080"/>
            <a:ext cx="2423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parts + carrier PCB (LionCircuits)</a:t>
            </a:r>
            <a:endParaRPr lang="en-US" sz="15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+ sensor bring-up on the bench</a:t>
            </a:r>
            <a:endParaRPr lang="en-US" sz="15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Range, latency (logic analyser at TP4/TP5), power tests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127248" y="1298448"/>
            <a:ext cx="146304" cy="914"/>
          </a:xfrm>
          <a:prstGeom prst="line">
            <a:avLst/>
          </a:prstGeom>
          <a:noFill/>
          <a:ln w="22225">
            <a:solidFill>
              <a:srgbClr val="5B6BA8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291840" y="1051560"/>
            <a:ext cx="2697480" cy="502920"/>
          </a:xfrm>
          <a:prstGeom prst="roundRect">
            <a:avLst>
              <a:gd name="adj" fmla="val 10909"/>
            </a:avLst>
          </a:prstGeom>
          <a:solidFill>
            <a:srgbClr val="5B6BA8"/>
          </a:solidFill>
          <a:ln w="9525">
            <a:solidFill>
              <a:srgbClr val="5B6BA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37560" y="10515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2026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291840" y="1691640"/>
            <a:ext cx="2697480" cy="2743200"/>
          </a:xfrm>
          <a:prstGeom prst="roundRect">
            <a:avLst>
              <a:gd name="adj" fmla="val 2034"/>
            </a:avLst>
          </a:prstGeom>
          <a:solidFill>
            <a:srgbClr val="F3F5FA"/>
          </a:solidFill>
          <a:ln w="9525">
            <a:solidFill>
              <a:srgbClr val="DFE4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29000" y="1783080"/>
            <a:ext cx="2423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PCB assembly; Pi software integration</a:t>
            </a:r>
            <a:endParaRPr lang="en-US" sz="15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+ fit enclosure; thermal test in pod</a:t>
            </a:r>
            <a:endParaRPr lang="en-US" sz="15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dataset: rickshaw, cow, drain (pothole done early, RDD2020)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007608" y="1298448"/>
            <a:ext cx="146304" cy="914"/>
          </a:xfrm>
          <a:prstGeom prst="line">
            <a:avLst/>
          </a:prstGeom>
          <a:noFill/>
          <a:ln w="22225">
            <a:solidFill>
              <a:srgbClr val="5B6BA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172200" y="1051560"/>
            <a:ext cx="2697480" cy="502920"/>
          </a:xfrm>
          <a:prstGeom prst="roundRect">
            <a:avLst>
              <a:gd name="adj" fmla="val 10909"/>
            </a:avLst>
          </a:prstGeom>
          <a:solidFill>
            <a:srgbClr val="25325F"/>
          </a:solidFill>
          <a:ln w="9525">
            <a:solidFill>
              <a:srgbClr val="25325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0" y="10515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2027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172200" y="1691640"/>
            <a:ext cx="2697480" cy="2743200"/>
          </a:xfrm>
          <a:prstGeom prst="roundRect">
            <a:avLst>
              <a:gd name="adj" fmla="val 2034"/>
            </a:avLst>
          </a:prstGeom>
          <a:solidFill>
            <a:srgbClr val="F3F5FA"/>
          </a:solidFill>
          <a:ln w="9525">
            <a:solidFill>
              <a:srgbClr val="DFE4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09360" y="1783080"/>
            <a:ext cx="2423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approval (institute ethics committee)</a:t>
            </a:r>
            <a:endParaRPr lang="en-US" sz="15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trials: sighted blindfolded first</a:t>
            </a:r>
            <a:endParaRPr lang="en-US" sz="15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blind volunteers with an O&amp;M instructor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887968" y="1298448"/>
            <a:ext cx="146304" cy="914"/>
          </a:xfrm>
          <a:prstGeom prst="line">
            <a:avLst/>
          </a:prstGeom>
          <a:noFill/>
          <a:ln w="22225">
            <a:solidFill>
              <a:srgbClr val="5B6BA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052560" y="1051560"/>
            <a:ext cx="2697480" cy="502920"/>
          </a:xfrm>
          <a:prstGeom prst="roundRect">
            <a:avLst>
              <a:gd name="adj" fmla="val 10909"/>
            </a:avLst>
          </a:prstGeom>
          <a:solidFill>
            <a:srgbClr val="5B6BA8"/>
          </a:solidFill>
          <a:ln w="9525">
            <a:solidFill>
              <a:srgbClr val="5B6BA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098280" y="10515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2027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052560" y="1691640"/>
            <a:ext cx="2697480" cy="2743200"/>
          </a:xfrm>
          <a:prstGeom prst="roundRect">
            <a:avLst>
              <a:gd name="adj" fmla="val 2034"/>
            </a:avLst>
          </a:prstGeom>
          <a:solidFill>
            <a:srgbClr val="F3F5FA"/>
          </a:solidFill>
          <a:ln w="9525">
            <a:solidFill>
              <a:srgbClr val="DFE4E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89720" y="1783080"/>
            <a:ext cx="2423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top issues from trials</a:t>
            </a:r>
            <a:endParaRPr lang="en-US" sz="15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all Stage 2 tests on hardware</a:t>
            </a:r>
            <a:endParaRPr lang="en-US" sz="15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Field-test-ready unit for Stage 3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11480" y="4572000"/>
            <a:ext cx="11365992" cy="1051560"/>
          </a:xfrm>
          <a:prstGeom prst="roundRect">
            <a:avLst>
              <a:gd name="adj" fmla="val 5217"/>
            </a:avLst>
          </a:prstGeom>
          <a:solidFill>
            <a:srgbClr val="EEF6E4"/>
          </a:solidFill>
          <a:ln w="9525">
            <a:solidFill>
              <a:srgbClr val="C9E3A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8640" y="466344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53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commitment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wearable, battery-powered VisionAid prototype ready for supervised functional field testing, with every Stage 2 target (range, alert latency, drop-off distance, runtime, mass) measured on hardware.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11480" y="5760720"/>
            <a:ext cx="11365992" cy="420624"/>
          </a:xfrm>
          <a:prstGeom prst="roundRect">
            <a:avLst>
              <a:gd name="adj" fmla="val 10870"/>
            </a:avLst>
          </a:prstGeom>
          <a:solidFill>
            <a:srgbClr val="EEF6E4"/>
          </a:solidFill>
          <a:ln w="9525">
            <a:solidFill>
              <a:srgbClr val="C9E3A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5760720"/>
            <a:ext cx="11109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6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extension: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RISC-V soft core (PicoRV32) on the Tang Nano + a tiny spiking neural network to classify sensor patterns (stairs / wall / person) at very low power - once real sensor data exists.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3200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411480" y="256032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53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Challenges &amp; Risks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1051560"/>
            <a:ext cx="3657600" cy="2148840"/>
          </a:xfrm>
          <a:prstGeom prst="roundRect">
            <a:avLst>
              <a:gd name="adj" fmla="val 2553"/>
            </a:avLst>
          </a:prstGeom>
          <a:solidFill>
            <a:srgbClr val="F3F5FA"/>
          </a:solidFill>
          <a:ln w="9525">
            <a:solidFill>
              <a:srgbClr val="DFE4E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143000"/>
            <a:ext cx="3383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Ultrasonic crosstalk vs update rate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sensors firing together hear each other. Sequencing fixes it but limits each direction to one ping per 99 ms (simulated).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251960" y="1051560"/>
            <a:ext cx="3657600" cy="2148840"/>
          </a:xfrm>
          <a:prstGeom prst="roundRect">
            <a:avLst>
              <a:gd name="adj" fmla="val 2553"/>
            </a:avLst>
          </a:prstGeom>
          <a:solidFill>
            <a:srgbClr val="F3F5FA"/>
          </a:solidFill>
          <a:ln w="9525">
            <a:solidFill>
              <a:srgbClr val="DFE4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389120" y="1143000"/>
            <a:ext cx="3383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Enclosure clash found in CAD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Tang Nano 3D model added, the module clashed with the lid by 182 mm³ - 171 mm³ of it the HDMI connector (CAD interference check).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092440" y="1051560"/>
            <a:ext cx="3657600" cy="2148840"/>
          </a:xfrm>
          <a:prstGeom prst="roundRect">
            <a:avLst>
              <a:gd name="adj" fmla="val 2553"/>
            </a:avLst>
          </a:prstGeom>
          <a:solidFill>
            <a:srgbClr val="F3F5FA"/>
          </a:solidFill>
          <a:ln w="9525">
            <a:solidFill>
              <a:srgbClr val="DFE4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0" y="1143000"/>
            <a:ext cx="3383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over target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Enclosure plastic alone ≈ 156 g if solid (CAD volume); with Pi 5 and sensors the pod likely exceeds 250 g.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11480" y="3383280"/>
            <a:ext cx="3657600" cy="2148840"/>
          </a:xfrm>
          <a:prstGeom prst="roundRect">
            <a:avLst>
              <a:gd name="adj" fmla="val 2553"/>
            </a:avLst>
          </a:prstGeom>
          <a:solidFill>
            <a:srgbClr val="F3F5FA"/>
          </a:solidFill>
          <a:ln w="9525">
            <a:solidFill>
              <a:srgbClr val="DFE4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474720"/>
            <a:ext cx="3383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over the grant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9 Oct quotes the BOM is ₹33,945 - ₹3,945 over the ₹30k grant; Pi 5, Tang Nano and TF-Luna were out of stock.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251960" y="3383280"/>
            <a:ext cx="3657600" cy="2148840"/>
          </a:xfrm>
          <a:prstGeom prst="roundRect">
            <a:avLst>
              <a:gd name="adj" fmla="val 2553"/>
            </a:avLst>
          </a:prstGeom>
          <a:solidFill>
            <a:srgbClr val="F3F5FA"/>
          </a:solidFill>
          <a:ln w="9525">
            <a:solidFill>
              <a:srgbClr val="DFE4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89120" y="3474720"/>
            <a:ext cx="3383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vs always-on AI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AI always running, the calculated runtime is 3.1 h - below the 4 h target (cited Pi 5 power).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092440" y="3383280"/>
            <a:ext cx="3657600" cy="2148840"/>
          </a:xfrm>
          <a:prstGeom prst="roundRect">
            <a:avLst>
              <a:gd name="adj" fmla="val 2553"/>
            </a:avLst>
          </a:prstGeom>
          <a:solidFill>
            <a:srgbClr val="F3F5FA"/>
          </a:solidFill>
          <a:ln w="9525">
            <a:solidFill>
              <a:srgbClr val="DFE4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0" y="3474720"/>
            <a:ext cx="3383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Sway false alarms + coverage gap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Simulation: 25 false drop-off alarms in 20 s with a fixed floor baseline; waist-height gap under 1 m ahead.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11480" y="5806440"/>
            <a:ext cx="11365992" cy="420624"/>
          </a:xfrm>
          <a:prstGeom prst="roundRect">
            <a:avLst>
              <a:gd name="adj" fmla="val 10870"/>
            </a:avLst>
          </a:prstGeom>
          <a:solidFill>
            <a:srgbClr val="EEF6E4"/>
          </a:solidFill>
          <a:ln w="9525">
            <a:solidFill>
              <a:srgbClr val="C9E3A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5806440"/>
            <a:ext cx="11109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6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of each risk: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own design files - CAD interference report, FEA study, BOM workbook, FPGA simulation - not assumptions copied from elsewhere.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3200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411480" y="256032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53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Solutions &amp; Risk Mitigation</a:t>
            </a:r>
            <a:endParaRPr lang="en-US" sz="28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51560"/>
          <a:ext cx="78638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585216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 / backup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5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Crosstalk vs rate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sequencing; Stage 3 option: coded pings to fire in parallel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Enclosure clash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Done: shell depth 44 → 48 mm (one parameter); interference now 0 mm³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v2: 2.0 mm walls + 20 % infill, merge housings, Pi Compute Module later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 5 must be ≤ ₹10,555 to fit; re-quote at order time, else team funds cover the gap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Battery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 in code: event-triggered AI → 4.3 h (calc., ~50 % AI duty assumed); measure on hardware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Sway / gap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Done: IMU floor baseline (0 false alarms, sim.); gap: forward sensors −10° in CAD v2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Mount corners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Done: 1.5 mm root fillets (FEA v2 converged, FoS ≥ 8.7)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 failure / heat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FPGA watchdog + independent alert path (simulated); cooler + vents, thermal test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</a:tbl>
          </a:graphicData>
        </a:graphic>
      </p:graphicFrame>
      <p:pic>
        <p:nvPicPr>
          <p:cNvPr id="4" name="Image 0" descr="/home/aman/Desktop/viswakarma/biothon/visiion aid/submission/ppt/assets/pcb_3d_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86115" y="1051560"/>
            <a:ext cx="3263442" cy="23774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8458200" y="3429000"/>
            <a:ext cx="3319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PCB with the Tang Nano 9K model (KiCad)</a:t>
            </a:r>
            <a:endParaRPr lang="en-US" sz="1000" dirty="0"/>
          </a:p>
        </p:txBody>
      </p:sp>
      <p:pic>
        <p:nvPicPr>
          <p:cNvPr id="6" name="Image 1" descr="/home/aman/Desktop/viswakarma/biothon/visiion aid/submission/ppt/assets/pod_xray_is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7196" y="3703320"/>
            <a:ext cx="2621280" cy="196596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411480" y="5806440"/>
            <a:ext cx="11365992" cy="420624"/>
          </a:xfrm>
          <a:prstGeom prst="roundRect">
            <a:avLst>
              <a:gd name="adj" fmla="val 10870"/>
            </a:avLst>
          </a:prstGeom>
          <a:solidFill>
            <a:srgbClr val="EEF6E4"/>
          </a:solidFill>
          <a:ln w="9525">
            <a:solidFill>
              <a:srgbClr val="C9E3A8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548640" y="5806440"/>
            <a:ext cx="11109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6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"Done" items are already in the design files; the rest are planned and will be verified on hardware in Stage 3.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3200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411480" y="256032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53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&amp; Sources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1005840"/>
            <a:ext cx="6400800" cy="4617720"/>
          </a:xfrm>
          <a:prstGeom prst="roundRect">
            <a:avLst>
              <a:gd name="adj" fmla="val 1188"/>
            </a:avLst>
          </a:prstGeom>
          <a:solidFill>
            <a:srgbClr val="F3F5FA"/>
          </a:solidFill>
          <a:ln w="9525">
            <a:solidFill>
              <a:srgbClr val="DFE4E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097280"/>
            <a:ext cx="612648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53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5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Bourne R. et al., Trends in prevalence of blindness and vision impairment, Lancet Global Health 9(2):e130-e143, 2021.</a:t>
            </a:r>
            <a:endParaRPr lang="en-US" sz="15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Blindness &amp; Visual Impairment Survey India 2015-19, AIIMS / MoHFW (indiavisionatlasnpcb.aiims.edu).</a:t>
            </a:r>
            <a:endParaRPr lang="en-US" sz="15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Manduchi R., Kurniawan S., Mobility-related accidents experienced by people with visual impairment, Insight 4(2), 2011 (tech. report UCSC-SOE-10-24; 307 respondents).</a:t>
            </a:r>
            <a:endParaRPr lang="en-US" sz="15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SmartCane - IIT Delhi / Assistech: ₹3,500 (Snapdeal launch, 2016; entrepreneur.com, electronicsforu.com).</a:t>
            </a:r>
            <a:endParaRPr lang="en-US" sz="15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OrCam MyEye 3 Pro US$4,250 (nelowvision.com); Envision Glasses US$1,899 / 3,499 (shop.letsenvision.com) - checked 9 Oct 2026.</a:t>
            </a:r>
            <a:endParaRPr lang="en-US" sz="15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Sipeed Tang Nano 9K wiki and pin map; Benewake TF-Luna datasheet; Raspberry Pi 5 / Camera Module 3 product briefs.</a:t>
            </a:r>
            <a:endParaRPr lang="en-US" sz="15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5 power (≈ 3.0 W idle, ≈ 8.8 W full load): raspberry.tips power comparison, 2026. Part prices: kspelectronics.in, electronifyindia.com, probots.co.in, thingbits.in (9 Oct 2026).</a:t>
            </a:r>
            <a:endParaRPr lang="en-US" sz="15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 val2017 (cocodataset.org); YOLOv5n, YOLO11n (Ultralytics); RapidOCR / PP-OCR; Piper TTS (rhasspy). Pothole data: Roboflow Universe "Potholes Detection" (project-ssayl), CC BY 4.0, via Hugging Face Ryukijano/Pothole-detection-Yolov8.</a:t>
            </a:r>
            <a:endParaRPr lang="en-US" sz="15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 D. et al., Global Road Damage Detection: State-of-the-art Solutions, IEEE Big Data, 2020 (RDD2020 India subset, CC BY-SA 4.0: 1,530 real Indian road photos with pothole boxes; huggingface.co/datasets/ShixuanAn/RDD2020).</a:t>
            </a:r>
            <a:endParaRPr lang="en-US" sz="15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KiCad 9, FreeCAD + CalculiX + Gmsh, Icarus Verilog, GTKWave, Yosys, nextpnr + Apicula, Vivado 2026.1, FreeRouting.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995160" y="1005840"/>
            <a:ext cx="4782312" cy="4617720"/>
          </a:xfrm>
          <a:prstGeom prst="roundRect">
            <a:avLst>
              <a:gd name="adj" fmla="val 1188"/>
            </a:avLst>
          </a:prstGeom>
          <a:solidFill>
            <a:srgbClr val="F3F5FA"/>
          </a:solidFill>
          <a:ln w="9525">
            <a:solidFill>
              <a:srgbClr val="DFE4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0" y="1097280"/>
            <a:ext cx="4507992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53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sources</a:t>
            </a:r>
            <a:endParaRPr lang="en-US" sz="15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diagrams, renders, plots and screenshots in this deck are our own, generated from the project files in github.com/silentaf/viswa_id1 (one exception below):</a:t>
            </a:r>
            <a:endParaRPr lang="en-US" sz="15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 renders - design/cad (FreeCAD model)</a:t>
            </a:r>
            <a:endParaRPr lang="en-US" sz="15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PCB / schematic - design/electronics (KiCad)</a:t>
            </a:r>
            <a:endParaRPr lang="en-US" sz="15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 plots - design/cad/outputs/fea</a:t>
            </a:r>
            <a:endParaRPr lang="en-US" sz="15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Waveforms - design/fpga (testbench); AI / analysis charts - design/pi, design/analysis</a:t>
            </a:r>
            <a:endParaRPr lang="en-US" sz="15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- docs/screenshots</a:t>
            </a:r>
            <a:endParaRPr lang="en-US" sz="15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Exception: the road photos on the pothole slide are RDD2020 India photos (CC BY-SA 4.0, see references); only the boxes are our model's output.</a:t>
            </a:r>
            <a:endParaRPr lang="en-US" sz="15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Logos: Vishwakarma Awards / Maker Bhavan Foundation (official template).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3200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Team SVNIT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VisionAid - Stage 2 Design Specification</dc:title>
  <dc:subject>PptxGenJS Presentation</dc:subject>
  <dc:creator>Team SVNIT</dc:creator>
  <cp:lastModifiedBy>Team SVNIT</cp:lastModifiedBy>
  <cp:revision>1</cp:revision>
  <dcterms:created xsi:type="dcterms:W3CDTF">2026-10-22T19:56:46Z</dcterms:created>
  <dcterms:modified xsi:type="dcterms:W3CDTF">2026-10-22T19:56:46Z</dcterms:modified>
</cp:coreProperties>
</file>